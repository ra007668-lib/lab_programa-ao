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37"/>
  </p:notesMasterIdLst>
  <p:sldIdLst>
    <p:sldId id="256" r:id="rId2"/>
    <p:sldId id="258" r:id="rId3"/>
    <p:sldId id="275" r:id="rId4"/>
    <p:sldId id="262" r:id="rId5"/>
    <p:sldId id="263" r:id="rId6"/>
    <p:sldId id="265" r:id="rId7"/>
    <p:sldId id="266" r:id="rId8"/>
    <p:sldId id="267" r:id="rId9"/>
    <p:sldId id="264" r:id="rId10"/>
    <p:sldId id="276" r:id="rId11"/>
    <p:sldId id="277" r:id="rId12"/>
    <p:sldId id="278" r:id="rId13"/>
    <p:sldId id="279" r:id="rId14"/>
    <p:sldId id="268" r:id="rId15"/>
    <p:sldId id="280" r:id="rId16"/>
    <p:sldId id="269" r:id="rId17"/>
    <p:sldId id="270" r:id="rId18"/>
    <p:sldId id="281" r:id="rId19"/>
    <p:sldId id="271" r:id="rId20"/>
    <p:sldId id="272" r:id="rId21"/>
    <p:sldId id="273" r:id="rId22"/>
    <p:sldId id="285" r:id="rId23"/>
    <p:sldId id="274" r:id="rId24"/>
    <p:sldId id="282" r:id="rId25"/>
    <p:sldId id="286" r:id="rId26"/>
    <p:sldId id="283" r:id="rId27"/>
    <p:sldId id="284" r:id="rId28"/>
    <p:sldId id="287" r:id="rId29"/>
    <p:sldId id="289" r:id="rId30"/>
    <p:sldId id="288" r:id="rId31"/>
    <p:sldId id="290" r:id="rId32"/>
    <p:sldId id="291" r:id="rId33"/>
    <p:sldId id="292" r:id="rId34"/>
    <p:sldId id="293" r:id="rId35"/>
    <p:sldId id="294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1C39"/>
    <a:srgbClr val="B37A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566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B21B1F-049D-FFBB-9900-63000AEB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BD03BC9-56DA-402A-5C1F-C17003790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85235F6-4D34-FE43-F400-6C7C24425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722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AA86328-6A82-36C2-8827-7AA8F488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BE0B33E-8F0B-A98B-FCA9-89A413E82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582E85C-CE61-C8EF-33E2-8A063F585F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319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AD7CFC-EC98-2686-057C-4252D42C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AA88628-ADB4-C6F5-63E9-980B11312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5AFDA3C-60CA-DC50-FCD8-3F07DA71A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806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61065E0-474F-4330-1870-1C416655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8190672-7722-2E00-2DEA-DB68D6FC4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8F2752E-7418-6CE5-56A4-706756677C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415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CD08D64-7AE0-20BA-71BA-D5A434D6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17E50C3-0091-22D5-1D85-CC56C19EF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08D790C-7CBA-9694-A471-017633579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510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F63D5B5-2BA7-91DA-3969-5B4A8487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AD3739A-4D31-38B1-0800-F1C4897FD5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AC35B20-6942-0567-7CC0-107231039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7155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C4D2CA3-83E5-FAC3-FF78-F41D326B1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655C7AC-7E2A-1324-52CE-E3625350A8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896BBDE-299D-5E56-B586-105B8270F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8591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70603B6-28AA-45A7-4449-FF4FCDBA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5249986-3696-8DE4-68D4-77583FBCD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6AFF35A-5AC3-19CE-BC3D-5FD0DF819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920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B897960-FEDC-767A-7D38-6FA1F2290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86E9F17-6A54-0C7D-7F0E-BAA8402FA2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701BEBC-1765-327C-A823-DC1F702CA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6540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05E16A5-A2DE-03D8-C98F-A7733F8E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FB88FEC-CD7E-31FC-D241-88657AB4C6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2CB1CFA-7708-F856-1354-39AD507D4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876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E0097FA-266D-8923-BD10-14D2CA17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42B2C38-01DF-AF36-45CE-AECA3E10A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5CD713F-14D8-6549-AE88-78A469134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257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AD1CC01-D93A-37ED-BC11-88FDAD5C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9F5DBE6-18AC-AC6C-1CED-3AE56DD8CC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5A63B54-B1DE-D0ED-ED9A-7A32838928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4603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9331336-9F8C-2D5B-310D-FB6CD26D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1F9A63B-CC09-DEFE-C121-603CC5601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C761B5C-4E24-3F71-6D23-A961994FE1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5997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76E9479-8516-FBC4-232F-19F7DF5E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AE56ED2-FD15-DC45-1E89-4913DD626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8FC3A9B-5705-6ACF-B0E9-89E034B00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026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C66980B-4852-08A9-FAFA-268F6342F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98C8746-6EFB-A0CC-4882-CDECB37AA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2488612-FEE9-8635-FB0A-9820CFCE4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3889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4FD72A5-78A2-CB93-476E-FA6D12A7E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B3AACE6-34EC-3509-6174-5FC9572B3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1794B69-F029-CDEE-44B4-F0F51564B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713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B9D9558-3EE3-961D-F504-45112276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7F728D0-62E9-AE7F-9D7C-D2BE9DFA8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2200635-8A87-439C-7699-DEC553B2C8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363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5F7AE90-F9C4-4062-34C0-43B86854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5A0FEC6-F099-1C5D-0B59-CB6755AB8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038FAE2-8A35-72B8-4B5C-DD299EEE3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117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DFF139C-35A2-FDC1-D522-268264CA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F4B47AD-0DE2-A7D0-01F5-A36854C58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D547B86-3104-DA06-D756-807F5C654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368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1A77F52-7626-A7C6-9077-B4577A05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A7720A6-BA8C-936B-B5A3-DDB179BDAB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554E821-4728-A649-EBAD-EE8F7A513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84478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9CBF0BF-1318-7340-A5E0-E2AE7535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2177D53-C905-D20A-28E2-479ED2CFC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ECD0170-0EA6-A186-87C2-5F2E1C438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292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49BCA92-6E42-2961-2F51-6D2B0023F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FC50C9C-09BA-8BE0-37E9-61D0C0D54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E04147D-75B8-05E2-9612-BC6488338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5740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B929C0B-139F-02C2-33FC-F65F8AD3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D6ECB84-2E7B-8EEA-B653-15C236E2B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F65F033-D8F0-3B65-A90E-C8883FC1A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18314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DFD9413-C761-47EC-168B-AB46E387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CE194B2-F1E5-9A1B-39A4-DA9381687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18B702B-B526-E403-3BAD-309CBBE75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2899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8F4B110-2B18-1A5A-B6BA-E84B2846A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01A7232-CF15-C4B3-03A0-D932D6602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4330D58-50FF-A6AB-653A-C77453C78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9086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0CA9472-1879-B875-15DF-D480928AF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001C9A5-F162-477E-5D9A-1EFAD2CAC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1138C27-ED64-8B57-308F-81D428D21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3710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6EC2870-8B2D-46DD-184D-8EFA2B694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2205B6F-D898-D30F-F52B-C9A16CF37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E22DEF9-9B6D-D27F-DB75-9F64FC5B5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598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2D2BA62-9B05-1057-669E-1D31B2B93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5C5CEE4-3316-AB5D-877E-B33E2EB2E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5ADAFC3-3F7E-3C8C-48B5-CD94FEF71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4795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4DB9260-85CB-2815-B9BE-ADE2AD3E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9A36E08-8589-1323-53DD-C5F2BB368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2109947-A65A-3389-D9B6-4C9FC6EB7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70122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24251D2-D7D3-8471-93CD-8A288EE5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02A4C65-8DC0-1C12-7877-316466F8D4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F0801CD-46EA-8120-D015-F4A9ED334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6484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A00AFB8-8494-AFED-48B3-62712CD2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4D710BB-03EC-BE5D-B58C-9A6C23518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CFFACD5-3784-1ED8-006C-970B63DFF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55416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8342AA6-FF4D-7CC9-A47C-D562B447F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EC2DBC8-F853-B46D-EE34-64C93F2A69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C8CEE52-78F1-AB34-4894-4EEC1AF08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04193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D506373-F06B-3C19-2D10-E7DE8435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7F292F1F-7A90-D259-8E84-4C06E124E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09D38DA-65BE-2007-CF06-E31F831E9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7525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Estruturas de Repetição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Estruturas de repetição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Permitem que um bloco de comandos seja executado diversas vezes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/>
              <a:t>Dois tipos de Repetição</a:t>
            </a:r>
            <a:r>
              <a:rPr lang="pt-BR" dirty="0"/>
              <a:t>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</a:t>
            </a:r>
            <a:r>
              <a:rPr lang="pt-BR" b="1" dirty="0"/>
              <a:t>Repetição condicional</a:t>
            </a:r>
            <a:r>
              <a:rPr lang="pt-BR" dirty="0"/>
              <a:t>: executa um bloco de código enquanto uma condição lógica for verdadeira (</a:t>
            </a:r>
            <a:r>
              <a:rPr lang="pt-BR" dirty="0" err="1"/>
              <a:t>while</a:t>
            </a:r>
            <a:r>
              <a:rPr lang="pt-BR" dirty="0"/>
              <a:t>)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</a:t>
            </a:r>
            <a:r>
              <a:rPr lang="pt-BR" b="1" dirty="0"/>
              <a:t>Repetição contável</a:t>
            </a:r>
            <a:r>
              <a:rPr lang="pt-BR" dirty="0"/>
              <a:t>: executa um bloco de código um número predeterminado de vezes (for)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76EDA24-1EC4-82D7-1271-9E6E60CC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41FB272-709B-1897-4F6C-C74A0E02F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Repetição condicional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D31500E-663B-C715-F611-1169BFE008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2" y="1152475"/>
            <a:ext cx="3465820" cy="34164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b="1" i="1" dirty="0"/>
              <a:t>Pseudocódigo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sz="1800" dirty="0"/>
              <a:t>...</a:t>
            </a:r>
            <a:br>
              <a:rPr lang="pt-BR" sz="1800" dirty="0"/>
            </a:br>
            <a:r>
              <a:rPr lang="pt-BR" dirty="0"/>
              <a:t>enquanto</a:t>
            </a:r>
            <a:r>
              <a:rPr lang="pt-BR" sz="1800" dirty="0"/>
              <a:t> </a:t>
            </a:r>
            <a:r>
              <a:rPr lang="pt-BR" sz="1800" b="1" dirty="0"/>
              <a:t>CONDIÇÃO</a:t>
            </a:r>
            <a:r>
              <a:rPr lang="pt-BR" sz="1800" dirty="0"/>
              <a:t> faça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sz="1800" b="1" dirty="0"/>
              <a:t>INSTRUÇÃO 1</a:t>
            </a:r>
            <a:br>
              <a:rPr lang="pt-BR" sz="1800" dirty="0"/>
            </a:br>
            <a:r>
              <a:rPr lang="pt-BR" sz="1800" b="1" dirty="0"/>
              <a:t>INSTRUÇÃO 2</a:t>
            </a:r>
            <a:br>
              <a:rPr lang="pt-BR" sz="1800" dirty="0"/>
            </a:b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b="1" dirty="0"/>
              <a:t>INSTRUÇÃO 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dirty="0"/>
              <a:t>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Google Shape;55;p10">
            <a:extLst>
              <a:ext uri="{FF2B5EF4-FFF2-40B4-BE49-F238E27FC236}">
                <a16:creationId xmlns:a16="http://schemas.microsoft.com/office/drawing/2014/main" id="{9E4AE4E3-39DB-9E01-D244-1E019017AD79}"/>
              </a:ext>
            </a:extLst>
          </p:cNvPr>
          <p:cNvSpPr txBox="1">
            <a:spLocks/>
          </p:cNvSpPr>
          <p:nvPr/>
        </p:nvSpPr>
        <p:spPr>
          <a:xfrm>
            <a:off x="4572000" y="1152475"/>
            <a:ext cx="371315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b="1" i="1" dirty="0"/>
              <a:t>Python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dirty="0" err="1"/>
              <a:t>while</a:t>
            </a:r>
            <a:r>
              <a:rPr lang="pt-BR" sz="1800" dirty="0"/>
              <a:t> </a:t>
            </a:r>
            <a:r>
              <a:rPr lang="pt-BR" sz="1800" b="1" dirty="0"/>
              <a:t>CONDIÇÃO: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sz="1800" b="1" dirty="0"/>
              <a:t>INSTRUÇÃO 1</a:t>
            </a:r>
            <a:br>
              <a:rPr lang="pt-BR" sz="1800" dirty="0"/>
            </a:br>
            <a:r>
              <a:rPr lang="pt-BR" sz="1800" b="1" dirty="0"/>
              <a:t>INSTRUÇÃO 2</a:t>
            </a:r>
            <a:br>
              <a:rPr lang="pt-BR" sz="1800" b="1" dirty="0"/>
            </a:b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b="1" dirty="0"/>
              <a:t>INSTRUÇÃO N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sz="18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28163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EDE43F9-20E2-F493-860F-2B9972AD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26AB126-9B61-CEC0-9181-E3F960F5C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Repetição condicional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CED36D6-9F61-901A-B67C-E3F7CEAE6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0418D64-DEE1-24BE-3284-2C5DDFF5E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" y="1156345"/>
            <a:ext cx="7412736" cy="341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0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938303E-B593-8A66-69ED-0793E188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6AA7AB1-6FD5-EE82-11A3-509F16AA2A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Repetição condicional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FB12FC5-CFCD-412D-445D-74E7301056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Executa o bloco de instruções enquanto a condição for verdadeira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A condição é uma expressão booleana que pode fazer uso de quaisquer operadores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 bloco de instruções pode conter um ou mais comandos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 início e o fim do bloco são definidos de acordo com a indentação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443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1BA8DE5-F1B0-8F61-5EF8-BEE74DB5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A8DF8A3-ABEB-2C43-423F-0D15094847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Repetição condicional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0F96DA3-12F8-BFC5-2ED1-C7232982B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Executa o bloco de instruções enquanto a condição for verdadeira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A condição é uma expressão booleana que pode fazer uso de quaisquer operadores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 bloco de instruções pode conter um ou mais comandos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 início e o fim do bloco são definidos de acordo com a indentação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pt-BR" dirty="0">
              <a:solidFill>
                <a:srgbClr val="B37A8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b="1" dirty="0">
                <a:solidFill>
                  <a:srgbClr val="841C39"/>
                </a:solidFill>
              </a:rPr>
              <a:t>Nenhuma novidade: igual ao </a:t>
            </a:r>
            <a:r>
              <a:rPr lang="pt-BR" b="1" dirty="0" err="1">
                <a:solidFill>
                  <a:srgbClr val="841C39"/>
                </a:solidFill>
              </a:rPr>
              <a:t>if</a:t>
            </a:r>
            <a:r>
              <a:rPr lang="pt-BR" b="1" dirty="0">
                <a:solidFill>
                  <a:srgbClr val="841C39"/>
                </a:solidFill>
              </a:rPr>
              <a:t>!!!</a:t>
            </a:r>
            <a:endParaRPr b="1" dirty="0">
              <a:solidFill>
                <a:srgbClr val="841C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71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43C38C6-253B-64CF-EEC3-77980FE4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F3010B9-03FB-B182-3837-01102F8D1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Repetição condicional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926245A-9DF6-FB6D-37F8-C8FEE3A3E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A estrutura de repetição é chamada de </a:t>
            </a:r>
            <a:r>
              <a:rPr lang="pt-BR" b="1" dirty="0"/>
              <a:t>loop</a:t>
            </a:r>
            <a:r>
              <a:rPr lang="pt-BR" dirty="0"/>
              <a:t> porque continua-se voltando ao início da instrução até que a condição se torne falsa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Deve haver alguma instrução dentro do bloco de comandos que torne a condição falsa para que a </a:t>
            </a:r>
            <a:r>
              <a:rPr lang="pt-BR" b="1" dirty="0"/>
              <a:t>repetição seja encerrada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Quando a condição se torna falsa, a </a:t>
            </a:r>
            <a:r>
              <a:rPr lang="pt-BR" b="1" dirty="0"/>
              <a:t>próxima instrução </a:t>
            </a:r>
            <a:r>
              <a:rPr lang="pt-BR" dirty="0"/>
              <a:t>após o bloco do </a:t>
            </a:r>
            <a:r>
              <a:rPr lang="pt-BR" dirty="0" err="1"/>
              <a:t>while</a:t>
            </a:r>
            <a:r>
              <a:rPr lang="pt-BR" dirty="0"/>
              <a:t> é executada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Se a condição do </a:t>
            </a:r>
            <a:r>
              <a:rPr lang="pt-BR" dirty="0" err="1"/>
              <a:t>while</a:t>
            </a:r>
            <a:r>
              <a:rPr lang="pt-BR" dirty="0"/>
              <a:t> for falsa desde o início, o bloco de instruções </a:t>
            </a:r>
            <a:r>
              <a:rPr lang="pt-BR" b="1" dirty="0"/>
              <a:t>nunca é executado</a:t>
            </a:r>
            <a:r>
              <a:rPr lang="pt-B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304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C00984A-ED8D-0463-6639-9CDBB184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AED86B7-B37C-CE19-55E1-8EE7DA7417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1 – Bomba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34D0653-6862-E13A-98F1-A208AAD29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76200" indent="0">
              <a:buNone/>
            </a:pPr>
            <a:r>
              <a:rPr lang="pt-BR" dirty="0"/>
              <a:t>numero = </a:t>
            </a:r>
            <a:r>
              <a:rPr lang="pt-BR" dirty="0" err="1"/>
              <a:t>int</a:t>
            </a:r>
            <a:r>
              <a:rPr lang="pt-BR" dirty="0"/>
              <a:t>(input('Digite um número: '))</a:t>
            </a:r>
          </a:p>
          <a:p>
            <a:pPr marL="76200" indent="0">
              <a:buNone/>
            </a:pPr>
            <a:r>
              <a:rPr lang="pt-BR" b="1" dirty="0" err="1"/>
              <a:t>while</a:t>
            </a:r>
            <a:r>
              <a:rPr lang="pt-BR" b="1" dirty="0"/>
              <a:t> numero &gt; 0:</a:t>
            </a:r>
          </a:p>
          <a:p>
            <a:pPr marL="76200" indent="0">
              <a:buNone/>
            </a:pPr>
            <a:r>
              <a:rPr lang="pt-BR" b="1" dirty="0"/>
              <a:t>    numero = numero - 1</a:t>
            </a:r>
          </a:p>
          <a:p>
            <a:pPr marL="76200" indent="0">
              <a:buNone/>
            </a:pPr>
            <a:r>
              <a:rPr lang="pt-BR" b="1" dirty="0"/>
              <a:t>    print(numero)</a:t>
            </a:r>
          </a:p>
          <a:p>
            <a:pPr marL="76200" indent="0">
              <a:buNone/>
            </a:pPr>
            <a:r>
              <a:rPr lang="pt-BR" dirty="0"/>
              <a:t>print('Boom!!!')</a:t>
            </a: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509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177038F-D165-7B8B-29F5-A7842D9D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89F5A61-CF3B-49FD-1004-70950C804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2 – Contador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4E03807-C9BA-B216-D87A-A44215CA5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que imprime a quantidade de números pares de 100 até 200, incluindo-os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8667766-1DE4-741D-6062-A8EFB825754C}"/>
              </a:ext>
            </a:extLst>
          </p:cNvPr>
          <p:cNvSpPr txBox="1">
            <a:spLocks/>
          </p:cNvSpPr>
          <p:nvPr/>
        </p:nvSpPr>
        <p:spPr>
          <a:xfrm>
            <a:off x="311150" y="2048256"/>
            <a:ext cx="7528306" cy="2650219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/>
              <a:t>num = 100</a:t>
            </a:r>
          </a:p>
          <a:p>
            <a:pPr marL="76200" indent="0">
              <a:buNone/>
            </a:pPr>
            <a:r>
              <a:rPr lang="pt-BR" dirty="0" err="1"/>
              <a:t>contador_pares</a:t>
            </a:r>
            <a:r>
              <a:rPr lang="pt-BR" dirty="0"/>
              <a:t> = 0</a:t>
            </a:r>
          </a:p>
          <a:p>
            <a:pPr marL="76200" indent="0">
              <a:buNone/>
            </a:pPr>
            <a:r>
              <a:rPr lang="pt-BR" b="1" dirty="0" err="1"/>
              <a:t>while</a:t>
            </a:r>
            <a:r>
              <a:rPr lang="pt-BR" b="1" dirty="0"/>
              <a:t> num &lt;= 200:</a:t>
            </a:r>
          </a:p>
          <a:p>
            <a:pPr marL="76200" indent="0">
              <a:buNone/>
            </a:pPr>
            <a:r>
              <a:rPr lang="pt-BR" b="1" dirty="0"/>
              <a:t>	</a:t>
            </a:r>
            <a:r>
              <a:rPr lang="pt-BR" b="1" dirty="0" err="1"/>
              <a:t>if</a:t>
            </a:r>
            <a:r>
              <a:rPr lang="pt-BR" b="1" dirty="0"/>
              <a:t> num % 2 == 0:</a:t>
            </a:r>
          </a:p>
          <a:p>
            <a:pPr marL="76200" indent="0">
              <a:buNone/>
            </a:pPr>
            <a:r>
              <a:rPr lang="pt-BR" b="1" dirty="0"/>
              <a:t>		</a:t>
            </a:r>
            <a:r>
              <a:rPr lang="pt-BR" b="1" dirty="0" err="1"/>
              <a:t>contador_pares</a:t>
            </a:r>
            <a:r>
              <a:rPr lang="pt-BR" b="1" dirty="0"/>
              <a:t> = </a:t>
            </a:r>
            <a:r>
              <a:rPr lang="pt-BR" b="1" dirty="0" err="1"/>
              <a:t>contador_pares</a:t>
            </a:r>
            <a:r>
              <a:rPr lang="pt-BR" b="1" dirty="0"/>
              <a:t> + 1</a:t>
            </a:r>
          </a:p>
          <a:p>
            <a:pPr marL="76200" indent="0">
              <a:buNone/>
            </a:pPr>
            <a:r>
              <a:rPr lang="pt-BR" b="1" dirty="0"/>
              <a:t>	num = num + 1</a:t>
            </a:r>
          </a:p>
          <a:p>
            <a:pPr marL="76200" indent="0">
              <a:buNone/>
            </a:pPr>
            <a:r>
              <a:rPr lang="pt-BR" dirty="0"/>
              <a:t>print(</a:t>
            </a:r>
            <a:r>
              <a:rPr lang="pt-BR" dirty="0" err="1"/>
              <a:t>contador_pares</a:t>
            </a:r>
            <a:r>
              <a:rPr lang="pt-BR" dirty="0"/>
              <a:t>)</a:t>
            </a: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254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290AE76-FC97-1847-1B25-287B7A63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24A9D80-2D1E-242B-EF6E-C5D6B5F55D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Desafio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6BA122D-C45C-9C9D-7A92-0B8AAE9F5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Como fazer para contar a quantidade de números pares entre dois números quaisquer?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11FA556-65F3-6F71-4429-9D08AFE4D83A}"/>
              </a:ext>
            </a:extLst>
          </p:cNvPr>
          <p:cNvSpPr txBox="1">
            <a:spLocks/>
          </p:cNvSpPr>
          <p:nvPr/>
        </p:nvSpPr>
        <p:spPr>
          <a:xfrm>
            <a:off x="311150" y="2048256"/>
            <a:ext cx="7528306" cy="2650219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b="1" dirty="0"/>
              <a:t>num1 </a:t>
            </a:r>
            <a:r>
              <a:rPr lang="pt-BR" dirty="0"/>
              <a:t>= </a:t>
            </a:r>
            <a:r>
              <a:rPr lang="pt-BR" dirty="0" err="1"/>
              <a:t>int</a:t>
            </a:r>
            <a:r>
              <a:rPr lang="pt-BR" dirty="0"/>
              <a:t>(input('Entre com o valor inicial: '))</a:t>
            </a:r>
          </a:p>
          <a:p>
            <a:pPr marL="76200" indent="0">
              <a:buNone/>
            </a:pPr>
            <a:r>
              <a:rPr lang="pt-BR" b="1" dirty="0"/>
              <a:t>num2 </a:t>
            </a:r>
            <a:r>
              <a:rPr lang="pt-BR" dirty="0"/>
              <a:t>= </a:t>
            </a:r>
            <a:r>
              <a:rPr lang="pt-BR" dirty="0" err="1"/>
              <a:t>int</a:t>
            </a:r>
            <a:r>
              <a:rPr lang="pt-BR" dirty="0"/>
              <a:t>(input('Entre com o valor final: '))</a:t>
            </a:r>
          </a:p>
          <a:p>
            <a:pPr marL="76200" indent="0">
              <a:buNone/>
            </a:pPr>
            <a:r>
              <a:rPr lang="pt-BR" dirty="0" err="1"/>
              <a:t>contador_pares</a:t>
            </a:r>
            <a:r>
              <a:rPr lang="pt-BR" dirty="0"/>
              <a:t> = 0</a:t>
            </a:r>
          </a:p>
          <a:p>
            <a:pPr marL="76200" indent="0">
              <a:buNone/>
            </a:pPr>
            <a:r>
              <a:rPr lang="pt-BR" dirty="0" err="1"/>
              <a:t>while</a:t>
            </a:r>
            <a:r>
              <a:rPr lang="pt-BR" dirty="0"/>
              <a:t> </a:t>
            </a:r>
            <a:r>
              <a:rPr lang="pt-BR" b="1" dirty="0"/>
              <a:t>num1 </a:t>
            </a:r>
            <a:r>
              <a:rPr lang="pt-BR" dirty="0"/>
              <a:t>&lt;= </a:t>
            </a:r>
            <a:r>
              <a:rPr lang="pt-BR" b="1" dirty="0"/>
              <a:t>num2</a:t>
            </a:r>
            <a:r>
              <a:rPr lang="pt-BR" dirty="0"/>
              <a:t>:</a:t>
            </a:r>
          </a:p>
          <a:p>
            <a:pPr marL="76200" indent="0">
              <a:buNone/>
            </a:pPr>
            <a:r>
              <a:rPr lang="pt-BR" dirty="0"/>
              <a:t>	</a:t>
            </a:r>
            <a:r>
              <a:rPr lang="pt-BR" dirty="0" err="1"/>
              <a:t>if</a:t>
            </a:r>
            <a:r>
              <a:rPr lang="pt-BR" dirty="0"/>
              <a:t> num1 % 2 == 0:</a:t>
            </a:r>
          </a:p>
          <a:p>
            <a:pPr marL="76200" indent="0">
              <a:buNone/>
            </a:pPr>
            <a:r>
              <a:rPr lang="pt-BR" dirty="0"/>
              <a:t>		</a:t>
            </a:r>
            <a:r>
              <a:rPr lang="pt-BR" dirty="0" err="1"/>
              <a:t>contador_pares</a:t>
            </a:r>
            <a:r>
              <a:rPr lang="pt-BR" dirty="0"/>
              <a:t> = </a:t>
            </a:r>
            <a:r>
              <a:rPr lang="pt-BR" dirty="0" err="1"/>
              <a:t>contador_pares</a:t>
            </a:r>
            <a:r>
              <a:rPr lang="pt-BR" dirty="0"/>
              <a:t> + 1</a:t>
            </a:r>
          </a:p>
          <a:p>
            <a:pPr marL="76200" indent="0">
              <a:buNone/>
            </a:pPr>
            <a:r>
              <a:rPr lang="pt-BR" b="1" dirty="0"/>
              <a:t>	num1 = num1 + 1</a:t>
            </a:r>
          </a:p>
          <a:p>
            <a:pPr marL="76200" indent="0">
              <a:buNone/>
            </a:pPr>
            <a:r>
              <a:rPr lang="pt-BR" dirty="0"/>
              <a:t>print(</a:t>
            </a:r>
            <a:r>
              <a:rPr lang="pt-BR" dirty="0" err="1"/>
              <a:t>contador_pares</a:t>
            </a:r>
            <a:r>
              <a:rPr lang="pt-BR" dirty="0"/>
              <a:t>)</a:t>
            </a: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27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F677C58-CF0E-5B41-CE21-EB9EBA8D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3E1429D-7D09-C90B-A1C2-6B85D6065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3 – Acumulador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029F602-C7F8-775F-EA73-2F30D2843A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que imprime a soma de todos os números pares entre dois números quaisquer, incluindo-os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FCBB01E-3059-6953-DD50-307635FE5F5A}"/>
              </a:ext>
            </a:extLst>
          </p:cNvPr>
          <p:cNvSpPr txBox="1">
            <a:spLocks/>
          </p:cNvSpPr>
          <p:nvPr/>
        </p:nvSpPr>
        <p:spPr>
          <a:xfrm>
            <a:off x="311150" y="2048256"/>
            <a:ext cx="7528306" cy="2650219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/>
              <a:t>num1 = </a:t>
            </a:r>
            <a:r>
              <a:rPr lang="pt-BR" dirty="0" err="1"/>
              <a:t>int</a:t>
            </a:r>
            <a:r>
              <a:rPr lang="pt-BR" dirty="0"/>
              <a:t>(input('Entre com o valor inicial: '))</a:t>
            </a:r>
          </a:p>
          <a:p>
            <a:pPr marL="76200" indent="0">
              <a:buNone/>
            </a:pPr>
            <a:r>
              <a:rPr lang="pt-BR" dirty="0"/>
              <a:t>num2 = </a:t>
            </a:r>
            <a:r>
              <a:rPr lang="pt-BR" dirty="0" err="1"/>
              <a:t>int</a:t>
            </a:r>
            <a:r>
              <a:rPr lang="pt-BR" dirty="0"/>
              <a:t>(input('Entre com o valor final: '))</a:t>
            </a:r>
          </a:p>
          <a:p>
            <a:pPr marL="76200" indent="0">
              <a:buNone/>
            </a:pPr>
            <a:r>
              <a:rPr lang="pt-BR" b="1" dirty="0"/>
              <a:t>soma = 0</a:t>
            </a:r>
          </a:p>
          <a:p>
            <a:pPr marL="76200" indent="0">
              <a:buNone/>
            </a:pPr>
            <a:r>
              <a:rPr lang="pt-BR" dirty="0" err="1"/>
              <a:t>while</a:t>
            </a:r>
            <a:r>
              <a:rPr lang="pt-BR" dirty="0"/>
              <a:t> num1 &lt;= num2:</a:t>
            </a:r>
          </a:p>
          <a:p>
            <a:pPr marL="76200" indent="0">
              <a:buNone/>
            </a:pPr>
            <a:r>
              <a:rPr lang="pt-BR" dirty="0"/>
              <a:t>	</a:t>
            </a:r>
            <a:r>
              <a:rPr lang="pt-BR" dirty="0" err="1"/>
              <a:t>if</a:t>
            </a:r>
            <a:r>
              <a:rPr lang="pt-BR" dirty="0"/>
              <a:t> num1 % 2 == 0:</a:t>
            </a:r>
          </a:p>
          <a:p>
            <a:pPr marL="76200" indent="0">
              <a:buNone/>
            </a:pPr>
            <a:r>
              <a:rPr lang="pt-BR" b="1" dirty="0"/>
              <a:t>		soma = soma + num1</a:t>
            </a:r>
          </a:p>
          <a:p>
            <a:pPr marL="76200" indent="0">
              <a:buNone/>
            </a:pPr>
            <a:r>
              <a:rPr lang="pt-BR" dirty="0"/>
              <a:t>	num1 = num1 + 1</a:t>
            </a:r>
          </a:p>
          <a:p>
            <a:pPr marL="76200" indent="0">
              <a:buNone/>
            </a:pPr>
            <a:r>
              <a:rPr lang="pt-BR" dirty="0"/>
              <a:t>print('A soma é', soma)</a:t>
            </a: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49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6010B86-99F8-BBD7-7A1F-2E0BF42F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AE77088-0FE5-1AB7-5DC6-F2D1DBE6E4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4 – Fatorial de um número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201EA6F-61E9-7AE8-4B6E-C210095B3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AE552FD-31CD-D1D1-12DB-A03E9B6B4583}"/>
              </a:ext>
            </a:extLst>
          </p:cNvPr>
          <p:cNvSpPr txBox="1">
            <a:spLocks/>
          </p:cNvSpPr>
          <p:nvPr/>
        </p:nvSpPr>
        <p:spPr>
          <a:xfrm>
            <a:off x="311150" y="1152476"/>
            <a:ext cx="7955026" cy="3546000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/>
              <a:t>numero = </a:t>
            </a:r>
            <a:r>
              <a:rPr lang="pt-BR" dirty="0" err="1"/>
              <a:t>int</a:t>
            </a:r>
            <a:r>
              <a:rPr lang="pt-BR" dirty="0"/>
              <a:t>(input('Digite um número inteiro positivo: '))</a:t>
            </a:r>
          </a:p>
          <a:p>
            <a:pPr marL="76200" indent="0">
              <a:buNone/>
            </a:pPr>
            <a:r>
              <a:rPr lang="pt-BR" dirty="0"/>
              <a:t>fatorial = 1</a:t>
            </a:r>
          </a:p>
          <a:p>
            <a:pPr marL="76200" indent="0">
              <a:buNone/>
            </a:pPr>
            <a:r>
              <a:rPr lang="pt-BR" b="1" dirty="0" err="1"/>
              <a:t>while</a:t>
            </a:r>
            <a:r>
              <a:rPr lang="pt-BR" b="1" dirty="0"/>
              <a:t> numero &gt; 0:</a:t>
            </a:r>
          </a:p>
          <a:p>
            <a:pPr marL="76200" indent="0">
              <a:buNone/>
            </a:pPr>
            <a:r>
              <a:rPr lang="pt-BR" b="1" dirty="0"/>
              <a:t>	fatorial = fatorial * numero</a:t>
            </a:r>
          </a:p>
          <a:p>
            <a:pPr marL="76200" indent="0">
              <a:buNone/>
            </a:pPr>
            <a:r>
              <a:rPr lang="pt-BR" b="1" dirty="0"/>
              <a:t>	numero = numero - 1</a:t>
            </a:r>
          </a:p>
          <a:p>
            <a:pPr marL="76200" indent="0">
              <a:buNone/>
            </a:pPr>
            <a:r>
              <a:rPr lang="pt-BR" dirty="0"/>
              <a:t>print('O fatorial desse número é', fatorial)</a:t>
            </a: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92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5BA22C3-82A1-6AA6-3711-59E68C83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E5DC3C5-0E29-EB53-DDA2-6F21EBE9D2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5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45A5443-6C3D-B2D7-A724-9ECECA158C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Qual a saída do programa abaixo?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0F11E9A-C2D1-AC84-D727-9304E94DC361}"/>
              </a:ext>
            </a:extLst>
          </p:cNvPr>
          <p:cNvSpPr txBox="1">
            <a:spLocks/>
          </p:cNvSpPr>
          <p:nvPr/>
        </p:nvSpPr>
        <p:spPr>
          <a:xfrm>
            <a:off x="807847" y="1931162"/>
            <a:ext cx="7528306" cy="1942769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/>
              <a:t>i = 1</a:t>
            </a:r>
          </a:p>
          <a:p>
            <a:pPr marL="76200" indent="0">
              <a:buNone/>
            </a:pPr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b="1" dirty="0" err="1"/>
              <a:t>True</a:t>
            </a:r>
            <a:r>
              <a:rPr lang="pt-BR" b="1" dirty="0"/>
              <a:t>:</a:t>
            </a:r>
          </a:p>
          <a:p>
            <a:pPr marL="76200" indent="0">
              <a:buNone/>
            </a:pPr>
            <a:r>
              <a:rPr lang="pt-BR" b="1" dirty="0"/>
              <a:t>	i = i + 1</a:t>
            </a:r>
          </a:p>
          <a:p>
            <a:pPr marL="76200" indent="0">
              <a:buNone/>
            </a:pPr>
            <a:r>
              <a:rPr lang="pt-BR" b="1" dirty="0"/>
              <a:t>	print(i)</a:t>
            </a:r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D0730D2-0514-68B8-2449-3866ABDD84CF}"/>
              </a:ext>
            </a:extLst>
          </p:cNvPr>
          <p:cNvSpPr/>
          <p:nvPr/>
        </p:nvSpPr>
        <p:spPr>
          <a:xfrm>
            <a:off x="2139696" y="4213121"/>
            <a:ext cx="4864608" cy="67056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rgbClr val="FF0000"/>
                </a:solidFill>
              </a:rPr>
              <a:t>Evitem forçar loops infinitos!!!</a:t>
            </a:r>
          </a:p>
        </p:txBody>
      </p:sp>
    </p:spTree>
    <p:extLst>
      <p:ext uri="{BB962C8B-B14F-4D97-AF65-F5344CB8AC3E}">
        <p14:creationId xmlns:p14="http://schemas.microsoft.com/office/powerpoint/2010/main" val="2512833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885F50A-BC81-BDF0-143C-7EBD08E2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56B6A54-D68D-F233-6400-D798B676BC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9423472-ECEC-3D26-3700-2AE672BA8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Faça um programa que gere números inteiros aleatórios entre 1 e 10 e calcule a soma desses números, até que seja gerado um número </a:t>
            </a:r>
            <a:r>
              <a:rPr lang="pt-BR" b="1" dirty="0"/>
              <a:t>num</a:t>
            </a:r>
            <a:r>
              <a:rPr lang="pt-BR" dirty="0"/>
              <a:t> que foi informado pelo usuário anteriormente.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Dica 1: antes de mais nada, peça para o usuário digitar um número entre 1 e 10 e guarde o valor em </a:t>
            </a:r>
            <a:r>
              <a:rPr lang="pt-BR" b="1" dirty="0"/>
              <a:t>num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Dica 2: use a função </a:t>
            </a:r>
            <a:r>
              <a:rPr lang="pt-BR" dirty="0" err="1"/>
              <a:t>randint</a:t>
            </a:r>
            <a:r>
              <a:rPr lang="pt-BR" dirty="0"/>
              <a:t>(inicio, fim) do módulo </a:t>
            </a:r>
            <a:r>
              <a:rPr lang="pt-BR" dirty="0" err="1"/>
              <a:t>random</a:t>
            </a:r>
            <a:r>
              <a:rPr lang="pt-BR" dirty="0"/>
              <a:t> para gerar um número aleatório entre 1 e 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1987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8245F8D-CFCA-EE13-0084-56958449A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07197CE-0537-79A1-EB7B-19B9DD701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Solução do 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692B211-5143-19AD-F13C-E3E77F0BE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Qual a saída do programa abaixo?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C060620-A001-57B6-ABF5-CE325729CA5A}"/>
              </a:ext>
            </a:extLst>
          </p:cNvPr>
          <p:cNvSpPr txBox="1">
            <a:spLocks/>
          </p:cNvSpPr>
          <p:nvPr/>
        </p:nvSpPr>
        <p:spPr>
          <a:xfrm>
            <a:off x="311700" y="1931162"/>
            <a:ext cx="8024453" cy="2281959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random</a:t>
            </a:r>
            <a:endParaRPr lang="pt-BR" dirty="0"/>
          </a:p>
          <a:p>
            <a:pPr marL="76200" indent="0">
              <a:buNone/>
            </a:pPr>
            <a:r>
              <a:rPr lang="pt-BR" dirty="0"/>
              <a:t>num = </a:t>
            </a:r>
            <a:r>
              <a:rPr lang="pt-BR" dirty="0" err="1"/>
              <a:t>int</a:t>
            </a:r>
            <a:r>
              <a:rPr lang="pt-BR" dirty="0"/>
              <a:t>(input('Digite um número inteiro entre 1 e 10: '))</a:t>
            </a:r>
          </a:p>
          <a:p>
            <a:pPr marL="76200" indent="0">
              <a:buNone/>
            </a:pPr>
            <a:r>
              <a:rPr lang="pt-BR" dirty="0"/>
              <a:t>soma = 0</a:t>
            </a:r>
          </a:p>
          <a:p>
            <a:pPr marL="76200" indent="0">
              <a:buNone/>
            </a:pPr>
            <a:r>
              <a:rPr lang="pt-BR" dirty="0" err="1"/>
              <a:t>numero_sorteado</a:t>
            </a:r>
            <a:r>
              <a:rPr lang="pt-BR" dirty="0"/>
              <a:t> = </a:t>
            </a:r>
            <a:r>
              <a:rPr lang="pt-BR" dirty="0" err="1"/>
              <a:t>random.randint</a:t>
            </a:r>
            <a:r>
              <a:rPr lang="pt-BR" dirty="0"/>
              <a:t>(1,10)</a:t>
            </a:r>
          </a:p>
          <a:p>
            <a:pPr marL="76200" indent="0">
              <a:buNone/>
            </a:pPr>
            <a:r>
              <a:rPr lang="pt-BR" dirty="0"/>
              <a:t>print(</a:t>
            </a:r>
            <a:r>
              <a:rPr lang="pt-BR" dirty="0" err="1"/>
              <a:t>numero_sorteado</a:t>
            </a:r>
            <a:r>
              <a:rPr lang="pt-BR" dirty="0"/>
              <a:t>)</a:t>
            </a:r>
          </a:p>
          <a:p>
            <a:pPr marL="76200" indent="0">
              <a:buNone/>
            </a:pPr>
            <a:r>
              <a:rPr lang="pt-BR" b="1" dirty="0" err="1"/>
              <a:t>while</a:t>
            </a:r>
            <a:r>
              <a:rPr lang="pt-BR" b="1" dirty="0"/>
              <a:t> num != </a:t>
            </a:r>
            <a:r>
              <a:rPr lang="pt-BR" b="1" dirty="0" err="1"/>
              <a:t>numero_sorteado</a:t>
            </a:r>
            <a:r>
              <a:rPr lang="pt-BR" b="1" dirty="0"/>
              <a:t>:</a:t>
            </a:r>
          </a:p>
          <a:p>
            <a:pPr marL="76200" indent="0">
              <a:buNone/>
            </a:pPr>
            <a:r>
              <a:rPr lang="pt-BR" b="1" dirty="0"/>
              <a:t>	soma = soma + </a:t>
            </a:r>
            <a:r>
              <a:rPr lang="pt-BR" b="1" dirty="0" err="1"/>
              <a:t>numero_sorteado</a:t>
            </a:r>
            <a:endParaRPr lang="pt-BR" b="1" dirty="0"/>
          </a:p>
          <a:p>
            <a:pPr marL="76200" indent="0">
              <a:buNone/>
            </a:pPr>
            <a:r>
              <a:rPr lang="pt-BR" b="1" dirty="0"/>
              <a:t>	</a:t>
            </a:r>
            <a:r>
              <a:rPr lang="pt-BR" b="1" dirty="0" err="1"/>
              <a:t>numero_sorteado</a:t>
            </a:r>
            <a:r>
              <a:rPr lang="pt-BR" b="1" dirty="0"/>
              <a:t> = </a:t>
            </a:r>
            <a:r>
              <a:rPr lang="pt-BR" b="1" dirty="0" err="1"/>
              <a:t>random.randint</a:t>
            </a:r>
            <a:r>
              <a:rPr lang="pt-BR" b="1" dirty="0"/>
              <a:t>(1,10)</a:t>
            </a:r>
          </a:p>
          <a:p>
            <a:pPr marL="76200" indent="0">
              <a:buNone/>
            </a:pPr>
            <a:r>
              <a:rPr lang="pt-BR" b="1" dirty="0"/>
              <a:t>	print(</a:t>
            </a:r>
            <a:r>
              <a:rPr lang="pt-BR" b="1" dirty="0" err="1"/>
              <a:t>numero_sorteado</a:t>
            </a:r>
            <a:r>
              <a:rPr lang="pt-BR" b="1" dirty="0"/>
              <a:t>)</a:t>
            </a:r>
          </a:p>
          <a:p>
            <a:pPr marL="76200" indent="0">
              <a:buNone/>
            </a:pPr>
            <a:r>
              <a:rPr lang="pt-BR" dirty="0"/>
              <a:t>print('A soma é', soma)</a:t>
            </a:r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013AEBB-6E68-24AF-A994-B156ADBCF902}"/>
              </a:ext>
            </a:extLst>
          </p:cNvPr>
          <p:cNvSpPr/>
          <p:nvPr/>
        </p:nvSpPr>
        <p:spPr>
          <a:xfrm>
            <a:off x="2139696" y="4213121"/>
            <a:ext cx="4864608" cy="67056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1"/>
                </a:solidFill>
              </a:rPr>
              <a:t>Quantas vezes acontecerá essa repetição?</a:t>
            </a:r>
          </a:p>
          <a:p>
            <a:pPr algn="ctr"/>
            <a:r>
              <a:rPr lang="pt-BR" dirty="0">
                <a:solidFill>
                  <a:schemeClr val="accent1"/>
                </a:solidFill>
              </a:rPr>
              <a:t>- Não é possível determinar de antemão</a:t>
            </a:r>
            <a:endParaRPr lang="pt-BR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958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E7C2B9C-7CF0-0044-96FD-87A32FF1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9C4A277-19E9-BD94-FCC9-CC007DDB75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Repetição contável</a:t>
            </a:r>
            <a:endParaRPr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894356B-3F98-56AD-7EA4-5842465351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 se o enunciado fosse “Faça um programa que soma X números gerados aleatoriamente no intervalo de 1 a 10, onde X é informado pelo usuário”?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9113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5714FAC-7A78-420E-9872-9617D2ED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E83C1F4-2EE6-53CB-AEEF-29070139F3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Repetição contável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8B305B7-45D4-048E-F5A9-FB6213432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random</a:t>
            </a:r>
            <a:endParaRPr lang="pt-BR" dirty="0"/>
          </a:p>
          <a:p>
            <a:pPr marL="76200" indent="0">
              <a:buNone/>
            </a:pPr>
            <a:r>
              <a:rPr lang="pt-BR" dirty="0"/>
              <a:t>x = </a:t>
            </a:r>
            <a:r>
              <a:rPr lang="pt-BR" dirty="0" err="1"/>
              <a:t>int</a:t>
            </a:r>
            <a:r>
              <a:rPr lang="pt-BR" dirty="0"/>
              <a:t>(input('Digite um número: '))</a:t>
            </a:r>
          </a:p>
          <a:p>
            <a:pPr marL="76200" indent="0">
              <a:buNone/>
            </a:pPr>
            <a:r>
              <a:rPr lang="pt-BR" dirty="0"/>
              <a:t>soma = 0</a:t>
            </a:r>
          </a:p>
          <a:p>
            <a:pPr marL="76200" indent="0">
              <a:buNone/>
            </a:pPr>
            <a:r>
              <a:rPr lang="pt-BR" b="1" dirty="0"/>
              <a:t>contador </a:t>
            </a:r>
            <a:r>
              <a:rPr lang="pt-BR" dirty="0"/>
              <a:t>= 0</a:t>
            </a:r>
          </a:p>
          <a:p>
            <a:pPr marL="76200" indent="0">
              <a:buNone/>
            </a:pPr>
            <a:r>
              <a:rPr lang="pt-BR" dirty="0" err="1"/>
              <a:t>while</a:t>
            </a:r>
            <a:r>
              <a:rPr lang="pt-BR" dirty="0"/>
              <a:t> </a:t>
            </a:r>
            <a:r>
              <a:rPr lang="pt-BR" b="1" dirty="0"/>
              <a:t>contador </a:t>
            </a:r>
            <a:r>
              <a:rPr lang="pt-BR" dirty="0"/>
              <a:t>&lt; x:</a:t>
            </a:r>
          </a:p>
          <a:p>
            <a:pPr marL="76200" indent="0">
              <a:buNone/>
            </a:pPr>
            <a:r>
              <a:rPr lang="pt-BR" dirty="0"/>
              <a:t>	</a:t>
            </a:r>
            <a:r>
              <a:rPr lang="pt-BR" dirty="0" err="1"/>
              <a:t>numero_sorteado</a:t>
            </a:r>
            <a:r>
              <a:rPr lang="pt-BR" dirty="0"/>
              <a:t> = </a:t>
            </a:r>
            <a:r>
              <a:rPr lang="pt-BR" dirty="0" err="1"/>
              <a:t>random.randint</a:t>
            </a:r>
            <a:r>
              <a:rPr lang="pt-BR" dirty="0"/>
              <a:t>(1,10)</a:t>
            </a:r>
          </a:p>
          <a:p>
            <a:pPr marL="76200" indent="0">
              <a:buNone/>
            </a:pPr>
            <a:r>
              <a:rPr lang="pt-BR" dirty="0"/>
              <a:t>	print(</a:t>
            </a:r>
            <a:r>
              <a:rPr lang="pt-BR" dirty="0" err="1"/>
              <a:t>numero_sorteado</a:t>
            </a:r>
            <a:r>
              <a:rPr lang="pt-BR" dirty="0"/>
              <a:t>)</a:t>
            </a:r>
          </a:p>
          <a:p>
            <a:pPr marL="76200" indent="0">
              <a:buNone/>
            </a:pPr>
            <a:r>
              <a:rPr lang="pt-BR" dirty="0"/>
              <a:t>	soma = soma + </a:t>
            </a:r>
            <a:r>
              <a:rPr lang="pt-BR" dirty="0" err="1"/>
              <a:t>numero_sorteado</a:t>
            </a:r>
            <a:endParaRPr lang="pt-BR" dirty="0"/>
          </a:p>
          <a:p>
            <a:pPr marL="76200" indent="0">
              <a:buNone/>
            </a:pPr>
            <a:r>
              <a:rPr lang="pt-BR" b="1" dirty="0"/>
              <a:t>	contador = contador + 1</a:t>
            </a:r>
          </a:p>
          <a:p>
            <a:pPr marL="76200" indent="0">
              <a:buNone/>
            </a:pPr>
            <a:r>
              <a:rPr lang="pt-BR" dirty="0"/>
              <a:t>print('A soma é', soma)</a:t>
            </a:r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85C5E0E-9FB2-92A2-A6DD-2DC8AD4E629E}"/>
              </a:ext>
            </a:extLst>
          </p:cNvPr>
          <p:cNvSpPr/>
          <p:nvPr/>
        </p:nvSpPr>
        <p:spPr>
          <a:xfrm>
            <a:off x="5535168" y="3990975"/>
            <a:ext cx="3297132" cy="9131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1"/>
                </a:solidFill>
              </a:rPr>
              <a:t>Número de repetições é fixo.</a:t>
            </a:r>
          </a:p>
          <a:p>
            <a:pPr algn="ctr"/>
            <a:r>
              <a:rPr lang="pt-BR" dirty="0">
                <a:solidFill>
                  <a:schemeClr val="accent1"/>
                </a:solidFill>
              </a:rPr>
              <a:t>- Python tem uma estrutura para isso!</a:t>
            </a:r>
            <a:endParaRPr lang="pt-BR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891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0FD56F5-AA5E-35D9-C5C5-A9C5FC7D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AC0DC90-5409-1792-C6D9-824D575770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Repetição contável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7FE4011-0176-F879-91D6-C1D082D5B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2" y="1152475"/>
            <a:ext cx="3465820" cy="35460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b="1" i="1" dirty="0"/>
              <a:t>Pseudocódigo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sz="2300" dirty="0"/>
              <a:t>...</a:t>
            </a:r>
            <a:br>
              <a:rPr lang="pt-BR" sz="2300" dirty="0"/>
            </a:br>
            <a:r>
              <a:rPr lang="pt-BR" sz="2300" dirty="0"/>
              <a:t>para </a:t>
            </a:r>
            <a:r>
              <a:rPr lang="pt-BR" sz="2300" b="1" dirty="0"/>
              <a:t>VARIÁVEL</a:t>
            </a:r>
            <a:r>
              <a:rPr lang="pt-BR" sz="2300" dirty="0"/>
              <a:t> variando de</a:t>
            </a:r>
            <a:br>
              <a:rPr lang="pt-BR" sz="2300" dirty="0"/>
            </a:br>
            <a:r>
              <a:rPr lang="pt-BR" sz="2300" b="1" dirty="0"/>
              <a:t>VALOR INICIAL </a:t>
            </a:r>
            <a:r>
              <a:rPr lang="pt-BR" sz="2300" dirty="0"/>
              <a:t>a </a:t>
            </a:r>
            <a:r>
              <a:rPr lang="pt-BR" sz="2300" b="1" dirty="0"/>
              <a:t>VALOR</a:t>
            </a:r>
            <a:br>
              <a:rPr lang="pt-BR" sz="2300" dirty="0"/>
            </a:br>
            <a:r>
              <a:rPr lang="pt-BR" sz="2300" b="1" dirty="0"/>
              <a:t>FINAL</a:t>
            </a:r>
            <a:r>
              <a:rPr lang="pt-BR" sz="2300" dirty="0"/>
              <a:t> com passo</a:t>
            </a:r>
            <a:br>
              <a:rPr lang="pt-BR" sz="2300" dirty="0"/>
            </a:br>
            <a:r>
              <a:rPr lang="pt-BR" sz="2300" b="1" dirty="0"/>
              <a:t>INCREMENTO</a:t>
            </a:r>
            <a:br>
              <a:rPr lang="pt-BR" sz="2300" dirty="0"/>
            </a:br>
            <a:r>
              <a:rPr lang="pt-BR" sz="2300" b="1" dirty="0"/>
              <a:t>INSTRUÇÃO 1</a:t>
            </a:r>
            <a:br>
              <a:rPr lang="pt-BR" sz="2300" dirty="0"/>
            </a:br>
            <a:r>
              <a:rPr lang="pt-BR" sz="2300" b="1" dirty="0"/>
              <a:t>INSTRUÇÃO 2</a:t>
            </a:r>
            <a:br>
              <a:rPr lang="pt-BR" sz="2300" dirty="0"/>
            </a:br>
            <a:r>
              <a:rPr lang="pt-BR" sz="2300" dirty="0"/>
              <a:t>...</a:t>
            </a:r>
            <a:br>
              <a:rPr lang="pt-BR" sz="2300" dirty="0"/>
            </a:br>
            <a:r>
              <a:rPr lang="pt-BR" sz="2300" b="1" dirty="0"/>
              <a:t>INSTRUÇÃO 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300" dirty="0"/>
              <a:t>...</a:t>
            </a:r>
          </a:p>
        </p:txBody>
      </p:sp>
      <p:sp>
        <p:nvSpPr>
          <p:cNvPr id="2" name="Google Shape;55;p10">
            <a:extLst>
              <a:ext uri="{FF2B5EF4-FFF2-40B4-BE49-F238E27FC236}">
                <a16:creationId xmlns:a16="http://schemas.microsoft.com/office/drawing/2014/main" id="{B70B54B0-33D0-FD20-ABAA-7107FEA16C48}"/>
              </a:ext>
            </a:extLst>
          </p:cNvPr>
          <p:cNvSpPr txBox="1">
            <a:spLocks/>
          </p:cNvSpPr>
          <p:nvPr/>
        </p:nvSpPr>
        <p:spPr>
          <a:xfrm>
            <a:off x="4572000" y="1152475"/>
            <a:ext cx="371315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b="1" i="1" dirty="0"/>
              <a:t>Python</a:t>
            </a:r>
          </a:p>
          <a:p>
            <a:pPr marL="76200" indent="0">
              <a:buNone/>
            </a:pP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dirty="0"/>
              <a:t>for </a:t>
            </a:r>
            <a:r>
              <a:rPr lang="pt-BR" sz="1800" b="1" dirty="0"/>
              <a:t>VARIÁVEL </a:t>
            </a:r>
            <a:r>
              <a:rPr lang="pt-BR" sz="1800" dirty="0"/>
              <a:t>in (</a:t>
            </a:r>
            <a:r>
              <a:rPr lang="pt-BR" sz="1800" b="1" dirty="0"/>
              <a:t>faixa- de-valores</a:t>
            </a:r>
            <a:r>
              <a:rPr lang="pt-BR" sz="1800" dirty="0"/>
              <a:t>):</a:t>
            </a:r>
          </a:p>
          <a:p>
            <a:pPr marL="76200" indent="0">
              <a:buNone/>
            </a:pPr>
            <a:r>
              <a:rPr lang="pt-BR" sz="1800" b="1" dirty="0"/>
              <a:t>INSTRUÇÃO 1</a:t>
            </a:r>
            <a:br>
              <a:rPr lang="pt-BR" sz="1800" dirty="0"/>
            </a:br>
            <a:r>
              <a:rPr lang="pt-BR" sz="1800" b="1" dirty="0"/>
              <a:t>INSTRUÇÃO 2</a:t>
            </a:r>
            <a:br>
              <a:rPr lang="pt-BR" sz="1800" b="1" dirty="0"/>
            </a:b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b="1" dirty="0"/>
              <a:t>INSTRUÇÃO N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sz="18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648722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00C2E61-9FB0-D076-541E-7E86A230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0F7AF81-A64B-F80E-189B-AC65C30EE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Faixa de valores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C724E61-6F42-AD85-E831-6057F365A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Os valores podem ser listados explicitamente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Exemplo: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16DFEFC-5650-95F5-C0E2-02631D3B22DC}"/>
              </a:ext>
            </a:extLst>
          </p:cNvPr>
          <p:cNvSpPr txBox="1">
            <a:spLocks/>
          </p:cNvSpPr>
          <p:nvPr/>
        </p:nvSpPr>
        <p:spPr>
          <a:xfrm>
            <a:off x="807847" y="2235962"/>
            <a:ext cx="7528306" cy="1942769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/>
              <a:t>for x in </a:t>
            </a:r>
            <a:r>
              <a:rPr lang="pt-BR" b="1" dirty="0"/>
              <a:t>(0,1,2,3,4)</a:t>
            </a:r>
            <a:r>
              <a:rPr lang="pt-BR" dirty="0"/>
              <a:t>:</a:t>
            </a:r>
          </a:p>
          <a:p>
            <a:pPr marL="76200" indent="0">
              <a:buNone/>
            </a:pPr>
            <a:r>
              <a:rPr lang="pt-BR" dirty="0"/>
              <a:t>	print(x)</a:t>
            </a:r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1A6A6FF-93A8-7EA6-32D3-A48A240EC74F}"/>
              </a:ext>
            </a:extLst>
          </p:cNvPr>
          <p:cNvSpPr/>
          <p:nvPr/>
        </p:nvSpPr>
        <p:spPr>
          <a:xfrm>
            <a:off x="1475232" y="4178731"/>
            <a:ext cx="5766816" cy="9131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1"/>
                </a:solidFill>
              </a:rPr>
              <a:t>print(x) será repetido 5 vezes,</a:t>
            </a:r>
          </a:p>
          <a:p>
            <a:pPr algn="ctr"/>
            <a:r>
              <a:rPr lang="pt-BR" dirty="0">
                <a:solidFill>
                  <a:schemeClr val="accent1"/>
                </a:solidFill>
              </a:rPr>
              <a:t>uma para cada valor especificado</a:t>
            </a:r>
          </a:p>
          <a:p>
            <a:pPr algn="ctr"/>
            <a:r>
              <a:rPr lang="pt-BR" dirty="0">
                <a:solidFill>
                  <a:schemeClr val="accent1"/>
                </a:solidFill>
              </a:rPr>
              <a:t>entre parênteses no comando </a:t>
            </a:r>
            <a:r>
              <a:rPr lang="pt-BR" b="1" dirty="0">
                <a:solidFill>
                  <a:schemeClr val="accent1"/>
                </a:solidFill>
              </a:rPr>
              <a:t>for</a:t>
            </a:r>
            <a:endParaRPr lang="pt-BR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361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DCB7945-9A44-AB47-70C4-5ABCD533C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A679B27-6276-F670-6E7D-4ADC7BF20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Faixa de valores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95CC12D-CA8E-F1BC-8716-B26399E1E5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Os valores podem ser especificados como um intervalo com início, fim e incremento, usando </a:t>
            </a:r>
            <a:r>
              <a:rPr lang="pt-BR" b="1" dirty="0"/>
              <a:t>range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Repete de início até fim – 1, com passo incremento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i="1" dirty="0"/>
              <a:t>for i in range(0,5,1):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i="1" dirty="0"/>
              <a:t>	print(i)</a:t>
            </a:r>
            <a:endParaRPr i="1" dirty="0"/>
          </a:p>
        </p:txBody>
      </p:sp>
      <p:sp>
        <p:nvSpPr>
          <p:cNvPr id="2" name="Texto Explicativo: Linha 1">
            <a:extLst>
              <a:ext uri="{FF2B5EF4-FFF2-40B4-BE49-F238E27FC236}">
                <a16:creationId xmlns:a16="http://schemas.microsoft.com/office/drawing/2014/main" id="{96FF01E0-A08A-CFDA-8534-26669E288298}"/>
              </a:ext>
            </a:extLst>
          </p:cNvPr>
          <p:cNvSpPr/>
          <p:nvPr/>
        </p:nvSpPr>
        <p:spPr>
          <a:xfrm>
            <a:off x="6796236" y="2788183"/>
            <a:ext cx="2036064" cy="926592"/>
          </a:xfrm>
          <a:prstGeom prst="borderCallout1">
            <a:avLst>
              <a:gd name="adj1" fmla="val 22697"/>
              <a:gd name="adj2" fmla="val -1147"/>
              <a:gd name="adj3" fmla="val 23026"/>
              <a:gd name="adj4" fmla="val -19222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dirty="0"/>
              <a:t>incremento (opcional)</a:t>
            </a:r>
          </a:p>
          <a:p>
            <a:r>
              <a:rPr lang="pt-BR" b="1" dirty="0"/>
              <a:t>quando omitido,</a:t>
            </a:r>
          </a:p>
          <a:p>
            <a:r>
              <a:rPr lang="pt-BR" b="1" dirty="0"/>
              <a:t>incremento = 1</a:t>
            </a:r>
            <a:endParaRPr lang="pt-BR" dirty="0"/>
          </a:p>
        </p:txBody>
      </p:sp>
      <p:sp>
        <p:nvSpPr>
          <p:cNvPr id="3" name="Texto Explicativo: Linha Dobrada 2">
            <a:extLst>
              <a:ext uri="{FF2B5EF4-FFF2-40B4-BE49-F238E27FC236}">
                <a16:creationId xmlns:a16="http://schemas.microsoft.com/office/drawing/2014/main" id="{2D8BF9F3-BA84-1BA8-EE23-D4A66AA996C0}"/>
              </a:ext>
            </a:extLst>
          </p:cNvPr>
          <p:cNvSpPr/>
          <p:nvPr/>
        </p:nvSpPr>
        <p:spPr>
          <a:xfrm>
            <a:off x="4760172" y="3991025"/>
            <a:ext cx="2036064" cy="1036320"/>
          </a:xfrm>
          <a:prstGeom prst="borderCallout2">
            <a:avLst>
              <a:gd name="adj1" fmla="val 21103"/>
              <a:gd name="adj2" fmla="val -549"/>
              <a:gd name="adj3" fmla="val 15220"/>
              <a:gd name="adj4" fmla="val -54392"/>
              <a:gd name="adj5" fmla="val -85147"/>
              <a:gd name="adj6" fmla="val -108943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fim (obrigatório)</a:t>
            </a:r>
            <a:endParaRPr lang="pt-BR"/>
          </a:p>
        </p:txBody>
      </p:sp>
      <p:sp>
        <p:nvSpPr>
          <p:cNvPr id="4" name="Texto Explicativo: Linha 3">
            <a:extLst>
              <a:ext uri="{FF2B5EF4-FFF2-40B4-BE49-F238E27FC236}">
                <a16:creationId xmlns:a16="http://schemas.microsoft.com/office/drawing/2014/main" id="{54A28D61-FBC7-236B-A06B-1928B6D5396C}"/>
              </a:ext>
            </a:extLst>
          </p:cNvPr>
          <p:cNvSpPr/>
          <p:nvPr/>
        </p:nvSpPr>
        <p:spPr>
          <a:xfrm>
            <a:off x="865632" y="3815458"/>
            <a:ext cx="2072640" cy="926592"/>
          </a:xfrm>
          <a:prstGeom prst="borderCallout1">
            <a:avLst>
              <a:gd name="adj1" fmla="val -2303"/>
              <a:gd name="adj2" fmla="val 76373"/>
              <a:gd name="adj3" fmla="val -71711"/>
              <a:gd name="adj4" fmla="val 69903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/>
              <a:t>início (opcional)</a:t>
            </a:r>
          </a:p>
          <a:p>
            <a:r>
              <a:rPr lang="pt-BR" b="1"/>
              <a:t>quando omitido,</a:t>
            </a:r>
          </a:p>
          <a:p>
            <a:r>
              <a:rPr lang="pt-BR" b="1"/>
              <a:t>início = 0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042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8196477-C4D6-6A8A-6777-EAE62A0A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006FDA4-CC79-D2BD-2BFF-2700B8685C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range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FFEB1D9A-CB5E-2D0A-31A9-28BC13B57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i="1" dirty="0"/>
              <a:t>for i in range(5):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i="1" dirty="0"/>
              <a:t>	print(i)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0</a:t>
            </a:r>
            <a:br>
              <a:rPr lang="pt-BR" dirty="0"/>
            </a:br>
            <a:r>
              <a:rPr lang="pt-BR" dirty="0"/>
              <a:t>1</a:t>
            </a:r>
            <a:br>
              <a:rPr lang="pt-BR" dirty="0"/>
            </a:br>
            <a:r>
              <a:rPr lang="pt-BR" dirty="0"/>
              <a:t>2</a:t>
            </a:r>
            <a:br>
              <a:rPr lang="pt-BR" dirty="0"/>
            </a:br>
            <a:r>
              <a:rPr lang="pt-BR" dirty="0"/>
              <a:t>3</a:t>
            </a:r>
            <a:br>
              <a:rPr lang="pt-BR" dirty="0"/>
            </a:br>
            <a:r>
              <a:rPr lang="pt-BR" dirty="0"/>
              <a:t>4</a:t>
            </a:r>
            <a:endParaRPr dirty="0"/>
          </a:p>
        </p:txBody>
      </p:sp>
      <p:sp>
        <p:nvSpPr>
          <p:cNvPr id="2" name="Google Shape;55;p10">
            <a:extLst>
              <a:ext uri="{FF2B5EF4-FFF2-40B4-BE49-F238E27FC236}">
                <a16:creationId xmlns:a16="http://schemas.microsoft.com/office/drawing/2014/main" id="{3D7FC620-1033-F364-93A2-70753E0F37CA}"/>
              </a:ext>
            </a:extLst>
          </p:cNvPr>
          <p:cNvSpPr txBox="1">
            <a:spLocks/>
          </p:cNvSpPr>
          <p:nvPr/>
        </p:nvSpPr>
        <p:spPr>
          <a:xfrm>
            <a:off x="4572000" y="101772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i="1" dirty="0"/>
              <a:t>for i in range(1,5):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i="1" dirty="0"/>
              <a:t>	print(i)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br>
              <a:rPr lang="pt-BR" dirty="0"/>
            </a:br>
            <a:r>
              <a:rPr lang="pt-BR" dirty="0"/>
              <a:t>1</a:t>
            </a:r>
            <a:br>
              <a:rPr lang="pt-BR" dirty="0"/>
            </a:br>
            <a:r>
              <a:rPr lang="pt-BR" dirty="0"/>
              <a:t>2</a:t>
            </a:r>
            <a:br>
              <a:rPr lang="pt-BR" dirty="0"/>
            </a:br>
            <a:r>
              <a:rPr lang="pt-BR" dirty="0"/>
              <a:t>3</a:t>
            </a:r>
            <a:br>
              <a:rPr lang="pt-BR" dirty="0"/>
            </a:br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33326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B2B345C-B9A1-67A1-A59E-511D8DDF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912BA7B-67EA-C47A-DC2D-67AD69FB1D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range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4DE5C56-464C-B43E-2D5A-E2081BC80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i="1" dirty="0"/>
              <a:t>for i in range(2,10,2):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i="1" dirty="0"/>
              <a:t>	print(i)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2</a:t>
            </a:r>
            <a:br>
              <a:rPr lang="pt-BR" dirty="0"/>
            </a:br>
            <a:r>
              <a:rPr lang="pt-BR" dirty="0"/>
              <a:t>4</a:t>
            </a:r>
            <a:br>
              <a:rPr lang="pt-BR" dirty="0"/>
            </a:br>
            <a:r>
              <a:rPr lang="pt-BR" dirty="0"/>
              <a:t>6</a:t>
            </a:r>
            <a:br>
              <a:rPr lang="pt-BR" dirty="0"/>
            </a:br>
            <a:r>
              <a:rPr lang="pt-BR" dirty="0"/>
              <a:t>8</a:t>
            </a:r>
            <a:br>
              <a:rPr lang="pt-BR" dirty="0"/>
            </a:br>
            <a:endParaRPr dirty="0"/>
          </a:p>
        </p:txBody>
      </p:sp>
      <p:sp>
        <p:nvSpPr>
          <p:cNvPr id="2" name="Google Shape;55;p10">
            <a:extLst>
              <a:ext uri="{FF2B5EF4-FFF2-40B4-BE49-F238E27FC236}">
                <a16:creationId xmlns:a16="http://schemas.microsoft.com/office/drawing/2014/main" id="{45F95FF3-1B26-FFE8-2EAF-4874025F6837}"/>
              </a:ext>
            </a:extLst>
          </p:cNvPr>
          <p:cNvSpPr txBox="1">
            <a:spLocks/>
          </p:cNvSpPr>
          <p:nvPr/>
        </p:nvSpPr>
        <p:spPr>
          <a:xfrm>
            <a:off x="4572000" y="1243583"/>
            <a:ext cx="4260300" cy="319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i="1" dirty="0"/>
              <a:t>for i in range(10,0,-2):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i="1" dirty="0"/>
              <a:t>	print(i)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br>
              <a:rPr lang="pt-BR" dirty="0"/>
            </a:br>
            <a:r>
              <a:rPr lang="pt-BR" dirty="0"/>
              <a:t>10</a:t>
            </a:r>
            <a:br>
              <a:rPr lang="pt-BR" dirty="0"/>
            </a:br>
            <a:r>
              <a:rPr lang="pt-BR" dirty="0"/>
              <a:t>8</a:t>
            </a:r>
            <a:br>
              <a:rPr lang="pt-BR" dirty="0"/>
            </a:br>
            <a:r>
              <a:rPr lang="pt-BR" dirty="0"/>
              <a:t>6</a:t>
            </a:r>
            <a:br>
              <a:rPr lang="pt-BR" dirty="0"/>
            </a:br>
            <a:r>
              <a:rPr lang="pt-BR" dirty="0"/>
              <a:t>4</a:t>
            </a:r>
            <a:br>
              <a:rPr lang="pt-BR" dirty="0"/>
            </a:br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08612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C00EF39-D246-F9F1-D7D0-DB546BD2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ADAABF0-D412-B57F-0F9E-058DB02295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Retomando o exemplo de soma de números aleatórios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F744228-C0B0-4C9E-ED4C-6974E1099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Faça um programa que soma X números gerados aleatoriamente no intervalo de 1 a 10, onde X é informado pelo usuário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5061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CE7BC7B-CE97-65A7-A617-7530F181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4710137-F618-CF8C-277F-9CA1625EA3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Soma de números aleatórios com </a:t>
            </a:r>
            <a:r>
              <a:rPr lang="pt-BR" dirty="0" err="1"/>
              <a:t>while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5101DF7-1D41-FF89-3E20-ED8E7F109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random</a:t>
            </a:r>
            <a:endParaRPr lang="pt-BR" dirty="0"/>
          </a:p>
          <a:p>
            <a:pPr marL="76200" indent="0">
              <a:buNone/>
            </a:pPr>
            <a:r>
              <a:rPr lang="pt-BR" dirty="0"/>
              <a:t>x = </a:t>
            </a:r>
            <a:r>
              <a:rPr lang="pt-BR" dirty="0" err="1"/>
              <a:t>int</a:t>
            </a:r>
            <a:r>
              <a:rPr lang="pt-BR" dirty="0"/>
              <a:t>(input('Digite um número: '))</a:t>
            </a:r>
          </a:p>
          <a:p>
            <a:pPr marL="76200" indent="0">
              <a:buNone/>
            </a:pPr>
            <a:r>
              <a:rPr lang="pt-BR" dirty="0"/>
              <a:t>soma = 0</a:t>
            </a:r>
          </a:p>
          <a:p>
            <a:pPr marL="76200" indent="0">
              <a:buNone/>
            </a:pPr>
            <a:r>
              <a:rPr lang="pt-BR" b="1" dirty="0"/>
              <a:t>contador </a:t>
            </a:r>
            <a:r>
              <a:rPr lang="pt-BR" dirty="0"/>
              <a:t>= 0</a:t>
            </a:r>
          </a:p>
          <a:p>
            <a:pPr marL="76200" indent="0">
              <a:buNone/>
            </a:pPr>
            <a:r>
              <a:rPr lang="pt-BR" dirty="0" err="1"/>
              <a:t>while</a:t>
            </a:r>
            <a:r>
              <a:rPr lang="pt-BR" dirty="0"/>
              <a:t> </a:t>
            </a:r>
            <a:r>
              <a:rPr lang="pt-BR" b="1" dirty="0"/>
              <a:t>contador </a:t>
            </a:r>
            <a:r>
              <a:rPr lang="pt-BR" dirty="0"/>
              <a:t>&lt; x:</a:t>
            </a:r>
          </a:p>
          <a:p>
            <a:pPr marL="76200" indent="0">
              <a:buNone/>
            </a:pPr>
            <a:r>
              <a:rPr lang="pt-BR" dirty="0"/>
              <a:t>	</a:t>
            </a:r>
            <a:r>
              <a:rPr lang="pt-BR" dirty="0" err="1"/>
              <a:t>numero_sorteado</a:t>
            </a:r>
            <a:r>
              <a:rPr lang="pt-BR" dirty="0"/>
              <a:t> = </a:t>
            </a:r>
            <a:r>
              <a:rPr lang="pt-BR" dirty="0" err="1"/>
              <a:t>random.randint</a:t>
            </a:r>
            <a:r>
              <a:rPr lang="pt-BR" dirty="0"/>
              <a:t>(1,10)</a:t>
            </a:r>
          </a:p>
          <a:p>
            <a:pPr marL="76200" indent="0">
              <a:buNone/>
            </a:pPr>
            <a:r>
              <a:rPr lang="pt-BR" dirty="0"/>
              <a:t>	print(</a:t>
            </a:r>
            <a:r>
              <a:rPr lang="pt-BR" dirty="0" err="1"/>
              <a:t>numero_sorteado</a:t>
            </a:r>
            <a:r>
              <a:rPr lang="pt-BR" dirty="0"/>
              <a:t>)</a:t>
            </a:r>
          </a:p>
          <a:p>
            <a:pPr marL="76200" indent="0">
              <a:buNone/>
            </a:pPr>
            <a:r>
              <a:rPr lang="pt-BR" dirty="0"/>
              <a:t>	soma = soma + </a:t>
            </a:r>
            <a:r>
              <a:rPr lang="pt-BR" dirty="0" err="1"/>
              <a:t>numero_sorteado</a:t>
            </a:r>
            <a:endParaRPr lang="pt-BR" dirty="0"/>
          </a:p>
          <a:p>
            <a:pPr marL="76200" indent="0">
              <a:buNone/>
            </a:pPr>
            <a:r>
              <a:rPr lang="pt-BR" b="1" dirty="0"/>
              <a:t>	contador = contador + 1</a:t>
            </a:r>
          </a:p>
          <a:p>
            <a:pPr marL="76200" indent="0">
              <a:buNone/>
            </a:pPr>
            <a:r>
              <a:rPr lang="pt-BR" dirty="0"/>
              <a:t>print('A soma é', soma)</a:t>
            </a:r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691DC3D-A01D-D4E1-7924-2F09EE1FCB69}"/>
              </a:ext>
            </a:extLst>
          </p:cNvPr>
          <p:cNvSpPr/>
          <p:nvPr/>
        </p:nvSpPr>
        <p:spPr>
          <a:xfrm>
            <a:off x="311150" y="2077974"/>
            <a:ext cx="2712466" cy="987552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Balão de Fala: Retângulo com Cantos Arredondados 3">
            <a:extLst>
              <a:ext uri="{FF2B5EF4-FFF2-40B4-BE49-F238E27FC236}">
                <a16:creationId xmlns:a16="http://schemas.microsoft.com/office/drawing/2014/main" id="{34D8014C-F864-8D68-3BDA-5D0128540FD0}"/>
              </a:ext>
            </a:extLst>
          </p:cNvPr>
          <p:cNvSpPr/>
          <p:nvPr/>
        </p:nvSpPr>
        <p:spPr>
          <a:xfrm>
            <a:off x="5937504" y="1597152"/>
            <a:ext cx="2712466" cy="1146048"/>
          </a:xfrm>
          <a:prstGeom prst="wedgeRoundRectCallout">
            <a:avLst>
              <a:gd name="adj1" fmla="val -157798"/>
              <a:gd name="adj2" fmla="val 28458"/>
              <a:gd name="adj3" fmla="val 16667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pt-BR" sz="1600" b="1" dirty="0"/>
              <a:t>Vamos substituir por um</a:t>
            </a:r>
          </a:p>
          <a:p>
            <a:r>
              <a:rPr lang="pt-BR" sz="1600" dirty="0"/>
              <a:t>for </a:t>
            </a:r>
            <a:r>
              <a:rPr lang="pt-BR" sz="1600" b="1" dirty="0"/>
              <a:t>e eliminar a necessidade de controlar o contador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95542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05C1E65-1A9E-F9EF-732D-75831173E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B5F0122-591F-7073-3E90-4A10FC66BB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Soma de números aleatórios com for</a:t>
            </a:r>
            <a:endParaRPr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A9FC516-B491-5C81-083F-84F8584CDF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ln w="254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rtlCol="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7620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random</a:t>
            </a:r>
            <a:endParaRPr lang="pt-BR" dirty="0"/>
          </a:p>
          <a:p>
            <a:pPr marL="76200" indent="0">
              <a:buNone/>
            </a:pPr>
            <a:r>
              <a:rPr lang="pt-BR" dirty="0"/>
              <a:t>x = </a:t>
            </a:r>
            <a:r>
              <a:rPr lang="pt-BR" dirty="0" err="1"/>
              <a:t>int</a:t>
            </a:r>
            <a:r>
              <a:rPr lang="pt-BR" dirty="0"/>
              <a:t>(input('Digite um número: '))</a:t>
            </a:r>
          </a:p>
          <a:p>
            <a:pPr marL="76200" indent="0">
              <a:buNone/>
            </a:pPr>
            <a:r>
              <a:rPr lang="pt-BR" dirty="0"/>
              <a:t>soma = 0</a:t>
            </a:r>
          </a:p>
          <a:p>
            <a:pPr marL="76200" indent="0">
              <a:buNone/>
            </a:pPr>
            <a:r>
              <a:rPr lang="pt-BR" b="1" dirty="0"/>
              <a:t>For contador in range(x):</a:t>
            </a:r>
            <a:endParaRPr lang="pt-BR" dirty="0"/>
          </a:p>
          <a:p>
            <a:pPr marL="76200" indent="0">
              <a:buNone/>
            </a:pPr>
            <a:r>
              <a:rPr lang="pt-BR" dirty="0"/>
              <a:t>	</a:t>
            </a:r>
            <a:r>
              <a:rPr lang="pt-BR" dirty="0" err="1"/>
              <a:t>numero_sorteado</a:t>
            </a:r>
            <a:r>
              <a:rPr lang="pt-BR" dirty="0"/>
              <a:t> = </a:t>
            </a:r>
            <a:r>
              <a:rPr lang="pt-BR" dirty="0" err="1"/>
              <a:t>random.randint</a:t>
            </a:r>
            <a:r>
              <a:rPr lang="pt-BR" dirty="0"/>
              <a:t>(1,10)</a:t>
            </a:r>
          </a:p>
          <a:p>
            <a:pPr marL="76200" indent="0">
              <a:buNone/>
            </a:pPr>
            <a:r>
              <a:rPr lang="pt-BR" dirty="0"/>
              <a:t>	print(</a:t>
            </a:r>
            <a:r>
              <a:rPr lang="pt-BR" dirty="0" err="1"/>
              <a:t>numero_sorteado</a:t>
            </a:r>
            <a:r>
              <a:rPr lang="pt-BR" dirty="0"/>
              <a:t>)</a:t>
            </a:r>
          </a:p>
          <a:p>
            <a:pPr marL="76200" indent="0">
              <a:buNone/>
            </a:pPr>
            <a:r>
              <a:rPr lang="pt-BR" dirty="0"/>
              <a:t>	soma = soma + </a:t>
            </a:r>
            <a:r>
              <a:rPr lang="pt-BR" dirty="0" err="1"/>
              <a:t>numero_sorteado</a:t>
            </a:r>
            <a:endParaRPr lang="pt-BR" dirty="0"/>
          </a:p>
          <a:p>
            <a:pPr marL="76200" indent="0">
              <a:buNone/>
            </a:pPr>
            <a:r>
              <a:rPr lang="pt-BR" dirty="0"/>
              <a:t>print('A soma é', soma)</a:t>
            </a: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582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21C2C3D-D915-13F8-A594-B98C612B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9788534-9EA9-5D65-0E7C-97FC0ACD08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B0E8484-2D7F-F5F8-F58C-CA3C3EA1C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que imprime a soma de todos os números pares entre dois números quaisquer, incluindo-os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110389B-7CEC-83FD-6D7A-E05BCA4325B5}"/>
              </a:ext>
            </a:extLst>
          </p:cNvPr>
          <p:cNvSpPr/>
          <p:nvPr/>
        </p:nvSpPr>
        <p:spPr>
          <a:xfrm>
            <a:off x="311700" y="2194560"/>
            <a:ext cx="8520600" cy="235305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>
                <a:solidFill>
                  <a:schemeClr val="tx1"/>
                </a:solidFill>
              </a:rPr>
              <a:t>num1 = </a:t>
            </a:r>
            <a:r>
              <a:rPr lang="pt-BR" sz="1800" dirty="0" err="1">
                <a:solidFill>
                  <a:schemeClr val="tx1"/>
                </a:solidFill>
              </a:rPr>
              <a:t>int</a:t>
            </a:r>
            <a:r>
              <a:rPr lang="pt-BR" sz="1800" dirty="0">
                <a:solidFill>
                  <a:schemeClr val="tx1"/>
                </a:solidFill>
              </a:rPr>
              <a:t>(input('Entre com o valor inicial: '))</a:t>
            </a:r>
          </a:p>
          <a:p>
            <a:r>
              <a:rPr lang="pt-BR" sz="1800" dirty="0">
                <a:solidFill>
                  <a:schemeClr val="tx1"/>
                </a:solidFill>
              </a:rPr>
              <a:t>num2 = </a:t>
            </a:r>
            <a:r>
              <a:rPr lang="pt-BR" sz="1800" dirty="0" err="1">
                <a:solidFill>
                  <a:schemeClr val="tx1"/>
                </a:solidFill>
              </a:rPr>
              <a:t>int</a:t>
            </a:r>
            <a:r>
              <a:rPr lang="pt-BR" sz="1800" dirty="0">
                <a:solidFill>
                  <a:schemeClr val="tx1"/>
                </a:solidFill>
              </a:rPr>
              <a:t>(input('Entre com o valor final: '))</a:t>
            </a:r>
          </a:p>
          <a:p>
            <a:r>
              <a:rPr lang="pt-BR" sz="1800" dirty="0">
                <a:solidFill>
                  <a:schemeClr val="tx1"/>
                </a:solidFill>
              </a:rPr>
              <a:t>soma = 0</a:t>
            </a:r>
          </a:p>
          <a:p>
            <a:r>
              <a:rPr lang="pt-BR" sz="1800" dirty="0">
                <a:solidFill>
                  <a:schemeClr val="tx1"/>
                </a:solidFill>
              </a:rPr>
              <a:t>for i in range(num1, num2 + 1):</a:t>
            </a:r>
          </a:p>
          <a:p>
            <a:r>
              <a:rPr lang="pt-BR" sz="1800" dirty="0">
                <a:solidFill>
                  <a:schemeClr val="tx1"/>
                </a:solidFill>
              </a:rPr>
              <a:t>	</a:t>
            </a:r>
            <a:r>
              <a:rPr lang="pt-BR" sz="1800" dirty="0" err="1">
                <a:solidFill>
                  <a:schemeClr val="tx1"/>
                </a:solidFill>
              </a:rPr>
              <a:t>if</a:t>
            </a:r>
            <a:r>
              <a:rPr lang="pt-BR" sz="1800" dirty="0">
                <a:solidFill>
                  <a:schemeClr val="tx1"/>
                </a:solidFill>
              </a:rPr>
              <a:t> i % 2 == 0:</a:t>
            </a:r>
          </a:p>
          <a:p>
            <a:r>
              <a:rPr lang="pt-BR" sz="1800" dirty="0">
                <a:solidFill>
                  <a:schemeClr val="tx1"/>
                </a:solidFill>
              </a:rPr>
              <a:t>		soma = soma + i</a:t>
            </a:r>
          </a:p>
          <a:p>
            <a:r>
              <a:rPr lang="pt-BR" sz="1800" dirty="0">
                <a:solidFill>
                  <a:schemeClr val="tx1"/>
                </a:solidFill>
              </a:rPr>
              <a:t>print('A soma é', soma)</a:t>
            </a:r>
          </a:p>
        </p:txBody>
      </p:sp>
    </p:spTree>
    <p:extLst>
      <p:ext uri="{BB962C8B-B14F-4D97-AF65-F5344CB8AC3E}">
        <p14:creationId xmlns:p14="http://schemas.microsoft.com/office/powerpoint/2010/main" val="365043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D225172-F65D-3D31-7BF6-101EC662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6196AD1-3664-58A4-1E15-7DCE64EB3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Fatorial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E16463F-2828-3BED-2A21-B7406FDA4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calcular fatorial de um número: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47A8BCD-4F67-7723-360A-022CD014F0D0}"/>
              </a:ext>
            </a:extLst>
          </p:cNvPr>
          <p:cNvSpPr/>
          <p:nvPr/>
        </p:nvSpPr>
        <p:spPr>
          <a:xfrm>
            <a:off x="311700" y="2194560"/>
            <a:ext cx="8520600" cy="235305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numero = </a:t>
            </a:r>
            <a:r>
              <a:rPr lang="pt-BR" sz="2000" dirty="0" err="1"/>
              <a:t>int</a:t>
            </a:r>
            <a:r>
              <a:rPr lang="pt-BR" sz="2000" dirty="0"/>
              <a:t>(input('Digite um inteiro positivo: '))</a:t>
            </a:r>
          </a:p>
          <a:p>
            <a:r>
              <a:rPr lang="pt-BR" sz="2000" dirty="0"/>
              <a:t>fatorial = 1</a:t>
            </a:r>
          </a:p>
          <a:p>
            <a:r>
              <a:rPr lang="en-US" sz="2000" b="1" dirty="0"/>
              <a:t>for </a:t>
            </a:r>
            <a:r>
              <a:rPr lang="en-US" sz="2000" b="1" dirty="0" err="1"/>
              <a:t>i</a:t>
            </a:r>
            <a:r>
              <a:rPr lang="en-US" sz="2000" b="1" dirty="0"/>
              <a:t> in range(1, </a:t>
            </a:r>
            <a:r>
              <a:rPr lang="en-US" sz="2000" b="1" dirty="0" err="1"/>
              <a:t>numero</a:t>
            </a:r>
            <a:r>
              <a:rPr lang="en-US" sz="2000" b="1" dirty="0"/>
              <a:t> + 1)</a:t>
            </a:r>
            <a:r>
              <a:rPr lang="en-US" sz="2000" dirty="0"/>
              <a:t>:</a:t>
            </a:r>
          </a:p>
          <a:p>
            <a:r>
              <a:rPr lang="pt-BR" sz="2000" dirty="0"/>
              <a:t>	fatorial = fatorial * i</a:t>
            </a:r>
          </a:p>
          <a:p>
            <a:r>
              <a:rPr lang="pt-BR" sz="2000" dirty="0"/>
              <a:t>print('O fatorial desse número é', fatorial)</a:t>
            </a: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82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BAC6F6D-6944-5F20-B4BD-76391747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FADE14C-007E-2581-8EC7-09932CD97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Tabela de jogos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311CEB4-9539-C022-5615-82BC6D2E2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gerar a tabela de jogos de um campeonato que tem 5 times (times jogam em casa e na casa do adversário)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6FE792-4F03-97FB-DA21-F8FEE500403C}"/>
              </a:ext>
            </a:extLst>
          </p:cNvPr>
          <p:cNvSpPr/>
          <p:nvPr/>
        </p:nvSpPr>
        <p:spPr>
          <a:xfrm>
            <a:off x="311700" y="2571750"/>
            <a:ext cx="8520600" cy="197586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for </a:t>
            </a:r>
            <a:r>
              <a:rPr lang="en-US" sz="2000" dirty="0"/>
              <a:t>time1 in ('</a:t>
            </a:r>
            <a:r>
              <a:rPr lang="en-US" sz="2000" dirty="0" err="1"/>
              <a:t>Fla','Flu','Bot','Vas','Ame</a:t>
            </a:r>
            <a:r>
              <a:rPr lang="en-US" sz="2000" dirty="0"/>
              <a:t>’):</a:t>
            </a:r>
          </a:p>
          <a:p>
            <a:r>
              <a:rPr lang="en-US" sz="2000" b="1" dirty="0"/>
              <a:t>    for </a:t>
            </a:r>
            <a:r>
              <a:rPr lang="en-US" sz="2000" dirty="0"/>
              <a:t>time2 in ('</a:t>
            </a:r>
            <a:r>
              <a:rPr lang="en-US" sz="2000" dirty="0" err="1"/>
              <a:t>Fla','Flu','Bot','Vas','Ame</a:t>
            </a:r>
            <a:r>
              <a:rPr lang="en-US" sz="2000" dirty="0"/>
              <a:t>’):</a:t>
            </a:r>
          </a:p>
          <a:p>
            <a:r>
              <a:rPr lang="pt-BR" sz="2000" b="1" dirty="0"/>
              <a:t>        </a:t>
            </a:r>
            <a:r>
              <a:rPr lang="pt-BR" sz="2000" b="1" dirty="0" err="1"/>
              <a:t>if</a:t>
            </a:r>
            <a:r>
              <a:rPr lang="pt-BR" sz="2000" b="1" dirty="0"/>
              <a:t> </a:t>
            </a:r>
            <a:r>
              <a:rPr lang="pt-BR" sz="2000" dirty="0"/>
              <a:t>time1 != time2:</a:t>
            </a:r>
          </a:p>
          <a:p>
            <a:r>
              <a:rPr lang="pt-BR" sz="2000" dirty="0"/>
              <a:t>            print(time1, 'x', time2)</a:t>
            </a: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62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2B360BA-61B3-DB3C-7BF9-73DD1D2A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EE3F3AB-EF7F-560A-BFED-58CE43AC58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Agenda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72C9717-280E-EF21-0614-A02B177D3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imprimir uma agenda diária, com horários de 15 em 15 minutos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63B491C-D6D3-79A3-9D39-40C79AB87F92}"/>
              </a:ext>
            </a:extLst>
          </p:cNvPr>
          <p:cNvSpPr/>
          <p:nvPr/>
        </p:nvSpPr>
        <p:spPr>
          <a:xfrm>
            <a:off x="311700" y="2230374"/>
            <a:ext cx="8520600" cy="197586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for </a:t>
            </a:r>
            <a:r>
              <a:rPr lang="en-US" sz="2000" dirty="0"/>
              <a:t>hora in range(24):</a:t>
            </a:r>
          </a:p>
          <a:p>
            <a:r>
              <a:rPr lang="en-US" sz="2000" b="1" dirty="0"/>
              <a:t>    for </a:t>
            </a:r>
            <a:r>
              <a:rPr lang="en-US" sz="2000" dirty="0" err="1"/>
              <a:t>minuto</a:t>
            </a:r>
            <a:r>
              <a:rPr lang="en-US" sz="2000" dirty="0"/>
              <a:t> in range(0,60,15):</a:t>
            </a:r>
          </a:p>
          <a:p>
            <a:r>
              <a:rPr lang="pt-BR" sz="2000" dirty="0"/>
              <a:t>        print(</a:t>
            </a:r>
            <a:r>
              <a:rPr lang="pt-BR" sz="2000" dirty="0" err="1"/>
              <a:t>str</a:t>
            </a:r>
            <a:r>
              <a:rPr lang="pt-BR" sz="2000" dirty="0"/>
              <a:t>(hora) + ':' + </a:t>
            </a:r>
            <a:r>
              <a:rPr lang="pt-BR" sz="2000" dirty="0" err="1"/>
              <a:t>str</a:t>
            </a:r>
            <a:r>
              <a:rPr lang="pt-BR" sz="2000" dirty="0"/>
              <a:t>(minuto))</a:t>
            </a: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674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784F47C-8AF3-A588-9F8D-2F635F01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EB5C8A4-50BB-E2DC-1B3E-B2E5A147B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8613317-AD49-6F78-3641-07BB2CBC6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indent="-4572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Faça um programa para montar a tabela de multiplicação de números de 1 a 10 (ex.: 1 x 1 = 1, 1 x 2 = 2, etc.)</a:t>
            </a:r>
          </a:p>
          <a:p>
            <a:pPr lvl="0" indent="-4572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Faça um programa para determinar o número de dígitos de um número inteiro positivo informado</a:t>
            </a:r>
          </a:p>
          <a:p>
            <a:pPr lvl="0" indent="-4572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Faça um programa para calcular a série de Fibonacci para um número informado pelo usuário, sendo F(0) = 0, F(1) = 1 e F(n)= F(n-1)+F(n-2)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• Por exemplo, caso o usuário informe o número 9, o resultado seria: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0, 1, 1, 2, 3, 5, 8, 13, 21, 34</a:t>
            </a:r>
          </a:p>
        </p:txBody>
      </p:sp>
    </p:spTree>
    <p:extLst>
      <p:ext uri="{BB962C8B-B14F-4D97-AF65-F5344CB8AC3E}">
        <p14:creationId xmlns:p14="http://schemas.microsoft.com/office/powerpoint/2010/main" val="3215198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3CB0A75-E0D3-194D-B964-7F4596439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C706216-1A36-B970-CA61-B9CA304965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3DF9146-1440-B60E-1E1D-9669B9C56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Faça um programa para listar todos os divisores de um número ou dizer que o número é primo caso não existam divisores</a:t>
            </a:r>
          </a:p>
          <a:p>
            <a:pPr marL="533400" lvl="1" indent="0">
              <a:buNone/>
            </a:pPr>
            <a:r>
              <a:rPr lang="pt-BR" dirty="0"/>
              <a:t>• Ao final, verifique se o usuário deseja analisar outro</a:t>
            </a:r>
          </a:p>
          <a:p>
            <a:pPr marL="533400" lvl="1" indent="0">
              <a:buNone/>
            </a:pPr>
            <a:r>
              <a:rPr lang="pt-BR" dirty="0"/>
              <a:t>número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8390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583109E-6214-DD55-1A56-1320B7742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E39103C-9418-2799-EAA1-C271140F3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EF92010-958B-13FF-8839-5D62F5F0E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 dirty="0"/>
              <a:t>Faça um programa que calcule o retorno de um investimento financeiro fazendo as contas mês a mês, sem usar a fórmula de juros compostos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 dirty="0"/>
              <a:t>– O usuário deve informar quanto será investido por mês e qual será a taxa de juros mensal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 dirty="0"/>
              <a:t>– O programa deve informar o saldo do investimento após um ano (soma das aplicações mês a mês considerando os juros compostos), e perguntar ao usuário se ele deseja que seja calculado o ano seguinte, sucessivamente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 dirty="0"/>
              <a:t>– Por exemplo, caso o usuário deseje investir R$ 100,00 por mês, e tenha uma taxa de juros de 1% ao mês, o programa forneceria a seguinte saída: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sz="1600" dirty="0"/>
              <a:t>Saldo do investimento após 1 ano: R$ 1280,93</a:t>
            </a:r>
            <a:br>
              <a:rPr lang="pt-BR" sz="1600" dirty="0"/>
            </a:br>
            <a:r>
              <a:rPr lang="pt-BR" sz="1600" dirty="0"/>
              <a:t>Deseja processar mais um ano? (S/N)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61047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84312CD-8410-86D7-9C68-5FFC6271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AC98093-7E76-6D03-EA5C-38B474792C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65D6EE4-3778-CD9A-7644-6618186E8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Escreva um programa que imprime na tela os n primeiros números perfeitos. Um número perfeito é aquele que é igual à soma dos seus divisores. Por exemplo, 6 = 1 + 2 + 3.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Um número inteiro pode ser igual ao produto de 3 números inteiros consecutivos, como, por exemplo, 120 = 4 x 5 x 6. Elabore um programa que, após ler um número n do teclado, verifique se n tem essa propriedade.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9746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9500848-7414-31F0-036B-DBA631C7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7DA33B7-8857-3F58-2134-0AE9AECD52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0F61FAC-8E9D-C903-27B0-0F4C66412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Elabore um programa que leia n valores e mostre a soma de seus quadrados.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Faça um programa que leia dois valores x e y, e calcula o valor de x dividido por y, além do resto da divisão. Não é permitido usar as operações de divisão e resto de divisão do Python (use apenas soma e subtração).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7443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6B67FC8-476A-4E81-EBC7-72B85A3B6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03FEAA2-B2FF-1721-8FC9-7AC5F7BEF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B36D8A5-D411-F350-B0F5-BFC9C9A24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76200" indent="0">
              <a:buNone/>
            </a:pPr>
            <a:r>
              <a:rPr lang="pt-BR" dirty="0"/>
              <a:t>Faça um programa em Python que calcule o valor de Pi, utilizando a fórmula de Leibniz </a:t>
            </a:r>
          </a:p>
          <a:p>
            <a:pPr marL="76200" indent="0">
              <a:buNone/>
            </a:pPr>
            <a:endParaRPr lang="pt-BR" dirty="0"/>
          </a:p>
          <a:p>
            <a:pPr marL="76200" indent="0">
              <a:buNone/>
            </a:pPr>
            <a:r>
              <a:rPr lang="pt-BR" b="1" dirty="0"/>
              <a:t>π/4 = 1 – 1/3 + 1/5 – 1/7 + 1/9 – 1/11 + 1/13 - ...</a:t>
            </a:r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r>
              <a:rPr lang="pt-BR" dirty="0"/>
              <a:t>Adicione parcelas no cálculo até que a diferença de uma interação para a seguinte seja menor do que um valor de erro aceitável x informado pelo usuário.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5588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2110</Words>
  <Application>Microsoft Office PowerPoint</Application>
  <PresentationFormat>Apresentação na tela (16:9)</PresentationFormat>
  <Paragraphs>236</Paragraphs>
  <Slides>35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8" baseType="lpstr">
      <vt:lpstr>Arial</vt:lpstr>
      <vt:lpstr>Impact</vt:lpstr>
      <vt:lpstr>Simple Light</vt:lpstr>
      <vt:lpstr>Estruturas de Repetição</vt:lpstr>
      <vt:lpstr>Estruturas de repetição</vt:lpstr>
      <vt:lpstr>Repetição condicional</vt:lpstr>
      <vt:lpstr>Repetição condicional</vt:lpstr>
      <vt:lpstr>Repetição condicional</vt:lpstr>
      <vt:lpstr>Repetição condicional</vt:lpstr>
      <vt:lpstr>Repetição condicional</vt:lpstr>
      <vt:lpstr>Exemplo 1 – Bomba</vt:lpstr>
      <vt:lpstr>Exemplo 2 – Contador</vt:lpstr>
      <vt:lpstr>Desafio</vt:lpstr>
      <vt:lpstr>Exemplo 3 – Acumulador</vt:lpstr>
      <vt:lpstr>Exemplo 4 – Fatorial de um número</vt:lpstr>
      <vt:lpstr>Exemplo 5</vt:lpstr>
      <vt:lpstr>Exercício</vt:lpstr>
      <vt:lpstr>Solução do exercício</vt:lpstr>
      <vt:lpstr>Repetição contável</vt:lpstr>
      <vt:lpstr>Repetição contável</vt:lpstr>
      <vt:lpstr>Repetição contável</vt:lpstr>
      <vt:lpstr>Faixa de valores</vt:lpstr>
      <vt:lpstr>Faixa de valores</vt:lpstr>
      <vt:lpstr>Exemplo de range</vt:lpstr>
      <vt:lpstr>Exemplo de range</vt:lpstr>
      <vt:lpstr>Retomando o exemplo de soma de números aleatórios</vt:lpstr>
      <vt:lpstr>Soma de números aleatórios com while</vt:lpstr>
      <vt:lpstr>Soma de números aleatórios com for</vt:lpstr>
      <vt:lpstr>Exemplo</vt:lpstr>
      <vt:lpstr>Fatorial</vt:lpstr>
      <vt:lpstr>Tabela de jogos</vt:lpstr>
      <vt:lpstr>Agenda</vt:lpstr>
      <vt:lpstr>Exercícios</vt:lpstr>
      <vt:lpstr>Exercícios</vt:lpstr>
      <vt:lpstr>Exercícios</vt:lpstr>
      <vt:lpstr>Exercícios</vt:lpstr>
      <vt:lpstr>Exercícios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Legion</dc:creator>
  <cp:lastModifiedBy>Juliano Caetano</cp:lastModifiedBy>
  <cp:revision>9</cp:revision>
  <dcterms:modified xsi:type="dcterms:W3CDTF">2026-03-26T20:04:12Z</dcterms:modified>
</cp:coreProperties>
</file>