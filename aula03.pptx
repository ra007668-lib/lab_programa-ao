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22"/>
  </p:notesMasterIdLst>
  <p:sldIdLst>
    <p:sldId id="256" r:id="rId2"/>
    <p:sldId id="258" r:id="rId3"/>
    <p:sldId id="263" r:id="rId4"/>
    <p:sldId id="264" r:id="rId5"/>
    <p:sldId id="265" r:id="rId6"/>
    <p:sldId id="266" r:id="rId7"/>
    <p:sldId id="262" r:id="rId8"/>
    <p:sldId id="268" r:id="rId9"/>
    <p:sldId id="257" r:id="rId10"/>
    <p:sldId id="267" r:id="rId11"/>
    <p:sldId id="270" r:id="rId12"/>
    <p:sldId id="271" r:id="rId13"/>
    <p:sldId id="272" r:id="rId14"/>
    <p:sldId id="269" r:id="rId15"/>
    <p:sldId id="273" r:id="rId16"/>
    <p:sldId id="274" r:id="rId17"/>
    <p:sldId id="276" r:id="rId18"/>
    <p:sldId id="275" r:id="rId19"/>
    <p:sldId id="277" r:id="rId20"/>
    <p:sldId id="261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20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7E4415E-64CC-D613-800E-92935928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7ECCF6E-D8FB-6A35-E2C9-60D0385E68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A7354F9B-B496-0651-04C7-655AEB8A18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600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8FE8F2C-B0A0-3976-B265-EC9DA5443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A05343D-D372-9C33-B872-A1D255148C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EC42FC7-0750-E25A-3163-396C6B949A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1261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1A80146-2227-0C64-7E7A-37E73D5EC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3E4DCF6-D72B-1411-4F88-7A99CE506E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4B3B5960-F18C-6615-F51B-D5D56E7956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8828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221E373-23A8-26AC-F28F-8198A0ADA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A3B6056-DF90-82B3-599C-038953472E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5FE7F85C-6E7C-51DA-9EEE-810B92DFE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8316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806882D-8F2A-6372-1BD2-CC7E139DB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53ABB35-32BB-6BA5-53FF-81655243B6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3A5F7ED0-C936-834E-0172-7A6503425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077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A5B36D1-0590-87D5-77BC-1472FA02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B00D356-A831-99E6-4193-6BA24A54AB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276D15A-B774-D533-F756-D3F6F38D5B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5554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f032c298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af032c298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FAB422F-E3E9-40EF-3FF0-8E5C20E75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E9BA47C-8B7E-1B91-9F08-B7A4B5806A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C39768A-ECE8-31C0-7B8A-F691A8C38C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3132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9CF8209-30E1-8654-E319-5AC202F6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7E1897E-758B-4E7E-3BC5-5B355F727C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4CDF6B8C-DF33-314C-CFB7-B6E6C3829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2095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6155186-F810-F1D9-BCE1-7FB6BA2A2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00FF907-2C5C-C753-D8C1-72E6B4D062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1D36A70A-D465-EE2D-23CF-96F5DC96D4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190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E0CF00B-5370-CF0F-8A48-9ACEC7304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34F5282C-7A0E-A53C-8BB8-7AAA0F1680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59751AF6-B239-7EBD-7C72-E4D762F5F3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8655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94DA3E5-6586-19E8-7BC4-86FE040A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394F5B09-F79F-CE15-741E-F2982E37F9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4A0646D-32A9-3C1A-8707-BC01E93C22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2309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21B8A82-7243-EE52-2991-CA002B1A9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EC5A88F-9984-292B-0638-6C2489C44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11E7719D-583F-CC4D-AABF-254572B27D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5834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FE44D04-7CD0-6118-D9FC-BE677D720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73D3194C-324C-311D-78F3-CE4DD5FC3E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F9E0FC4-2A6E-F715-1A44-B3EFFA459B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5620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F747A3B-A291-7501-792B-D3937CE6E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F706D7B-5C60-E36E-25CC-F7AD225DF3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57E1F4D4-4AA6-4683-B384-DF72838588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91662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A7B8530-F210-B072-2553-6061EE84F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ACBCA90-F3EC-D971-D2C5-4F098404AB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29B18FE-97E7-97C1-A646-44AF09828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0039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68B8112-9EA7-2B0F-D33B-2A9B850E1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84357FD-8B39-4FF9-801A-B603767A4D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5E99087-F9BD-1B51-3A1E-B0E23C85D8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2167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032c298c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032c298c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3600"/>
              <a:buNone/>
              <a:defRPr sz="3600">
                <a:solidFill>
                  <a:srgbClr val="841C39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8" name="Google Shape;18;p3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 title="Sem título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32063" y="-582590"/>
            <a:ext cx="1769851" cy="28339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7" name="Google Shape;37;p7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869" y="4576649"/>
            <a:ext cx="141028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 title="Sem título-1.png"/>
          <p:cNvPicPr preferRelativeResize="0"/>
          <p:nvPr/>
        </p:nvPicPr>
        <p:blipFill rotWithShape="1">
          <a:blip r:embed="rId4">
            <a:alphaModFix/>
          </a:blip>
          <a:srcRect t="7114" r="22779"/>
          <a:stretch/>
        </p:blipFill>
        <p:spPr>
          <a:xfrm>
            <a:off x="6936925" y="0"/>
            <a:ext cx="2207074" cy="425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Programando em Python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Professor: Juliano Caetano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Vamos programar em Python! Mas...</a:t>
            </a:r>
            <a:endParaRPr dirty="0"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Como um programa é organizado?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Quais são os tipos de dados disponíveis?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Como variáveis podem ser declaradas?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Como atribuir valores às variáveis?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Como entrada e saída básica de dados podem ser feitas?</a:t>
            </a:r>
            <a:endParaRPr dirty="0"/>
          </a:p>
        </p:txBody>
      </p:sp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8D9D051F-D57B-02FA-E7E1-93475D023A28}"/>
              </a:ext>
            </a:extLst>
          </p:cNvPr>
          <p:cNvSpPr/>
          <p:nvPr/>
        </p:nvSpPr>
        <p:spPr>
          <a:xfrm>
            <a:off x="2094875" y="3503844"/>
            <a:ext cx="4954249" cy="974361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Vamos começar com um exemplo...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C8C2DBC-1E8C-5F4D-A0C8-FA88D8E00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65A81B68-E379-5741-59C7-702FD02276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 dirty="0"/>
              <a:t>Primeiro passo: escrever o programa!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BFB69A6F-FE44-CB5D-790C-495389A87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 err="1"/>
              <a:t>ola</a:t>
            </a:r>
            <a:endParaRPr dirty="0"/>
          </a:p>
        </p:txBody>
      </p:sp>
      <p:pic>
        <p:nvPicPr>
          <p:cNvPr id="3" name="Imagem 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9CFE39A6-830F-D497-BE79-3EA1D506D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52475"/>
            <a:ext cx="6849399" cy="2798008"/>
          </a:xfrm>
          <a:prstGeom prst="rect">
            <a:avLst/>
          </a:prstGeom>
        </p:spPr>
      </p:pic>
      <p:sp>
        <p:nvSpPr>
          <p:cNvPr id="4" name="Seta: Dobrada 3">
            <a:extLst>
              <a:ext uri="{FF2B5EF4-FFF2-40B4-BE49-F238E27FC236}">
                <a16:creationId xmlns:a16="http://schemas.microsoft.com/office/drawing/2014/main" id="{BE14CA88-F39B-E4CC-FCAC-CD04F35926DB}"/>
              </a:ext>
            </a:extLst>
          </p:cNvPr>
          <p:cNvSpPr/>
          <p:nvPr/>
        </p:nvSpPr>
        <p:spPr>
          <a:xfrm rot="5400000">
            <a:off x="7408638" y="1097780"/>
            <a:ext cx="483481" cy="978560"/>
          </a:xfrm>
          <a:prstGeom prst="ben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7F84BE5-6EE4-1128-D684-6A60DB45E738}"/>
              </a:ext>
            </a:extLst>
          </p:cNvPr>
          <p:cNvSpPr txBox="1"/>
          <p:nvPr/>
        </p:nvSpPr>
        <p:spPr>
          <a:xfrm>
            <a:off x="7393244" y="1926096"/>
            <a:ext cx="1439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olamundo.py</a:t>
            </a:r>
          </a:p>
        </p:txBody>
      </p:sp>
    </p:spTree>
    <p:extLst>
      <p:ext uri="{BB962C8B-B14F-4D97-AF65-F5344CB8AC3E}">
        <p14:creationId xmlns:p14="http://schemas.microsoft.com/office/powerpoint/2010/main" val="790586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303A62A-F3A6-891B-444C-9AC2782A9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40486A2C-F46E-DAB8-01B8-347389B6AF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 dirty="0"/>
              <a:t>Mas o computador não conhece Python!!!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AE6FD5D-8FD2-E072-61BE-C7AA26D84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computador só entende binário</a:t>
            </a:r>
          </a:p>
          <a:p>
            <a:pPr marL="533400" lvl="1" indent="0">
              <a:buNone/>
            </a:pPr>
            <a:r>
              <a:rPr lang="pt-BR" dirty="0"/>
              <a:t>– Linguagem de zeros e uns</a:t>
            </a:r>
          </a:p>
          <a:p>
            <a:pPr marL="533400" lvl="1" indent="0">
              <a:buNone/>
            </a:pPr>
            <a:r>
              <a:rPr lang="pt-BR" dirty="0"/>
              <a:t>– 010010011101010101001010101, entendeu?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Precisamos traduzir o programa Python para binário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7730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0DF1CE5-D060-B58C-C339-23946FED6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2DB5FECD-0B83-26D9-B159-C021B5EFD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 dirty="0"/>
              <a:t>Compilação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15A67032-432E-93A9-F69C-2D17E05D28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Na maioria das linguagens, antes de executar um programa, é necessário compilar o programa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compilador gera um arquivo “executável”</a:t>
            </a:r>
          </a:p>
          <a:p>
            <a:pPr marL="76200" indent="0">
              <a:buNone/>
            </a:pPr>
            <a:r>
              <a:rPr lang="pt-BR" dirty="0"/>
              <a:t>	– Esse novo arquivo é o que será de fato executado</a:t>
            </a:r>
            <a:endParaRPr dirty="0"/>
          </a:p>
        </p:txBody>
      </p:sp>
      <p:pic>
        <p:nvPicPr>
          <p:cNvPr id="1026" name="Picture 2" descr="Material Didático - IMD">
            <a:extLst>
              <a:ext uri="{FF2B5EF4-FFF2-40B4-BE49-F238E27FC236}">
                <a16:creationId xmlns:a16="http://schemas.microsoft.com/office/drawing/2014/main" id="{4A82A9B2-A8DB-A7F3-7FC1-EF213452C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611" y="2992657"/>
            <a:ext cx="3194778" cy="199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958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DF5B3EB-EE85-AC1F-3BAB-76D6FE8D6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CFC3EC1-BDE1-9A37-097D-CA113B5171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 dirty="0"/>
              <a:t>Python é uma linguagem interpretada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EC535734-9E02-B0CA-DF5E-143B3FC378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Não é necessário compilar o código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interpretador Python vai lendo o código fonte, traduzindo para linguagem de máquina e executando ao mesmo tempo</a:t>
            </a:r>
            <a:endParaRPr dirty="0"/>
          </a:p>
        </p:txBody>
      </p:sp>
      <p:pic>
        <p:nvPicPr>
          <p:cNvPr id="1026" name="Picture 2" descr="Material Didático - IMD">
            <a:extLst>
              <a:ext uri="{FF2B5EF4-FFF2-40B4-BE49-F238E27FC236}">
                <a16:creationId xmlns:a16="http://schemas.microsoft.com/office/drawing/2014/main" id="{663EDE4F-2F92-2FA0-BF89-CBA1AE701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611" y="2632894"/>
            <a:ext cx="3194778" cy="199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186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9265A9A-FFD9-D50A-934E-88C29A4C1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6360057-048D-B74A-6DC6-822E62C087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 dirty="0"/>
              <a:t>Instalação do Interpretador Python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BC5C29B0-D386-1100-1E8F-5ADFFFF213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pt-BR" dirty="0"/>
              <a:t>Download do Python mais recente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pt-BR" dirty="0">
                <a:hlinkClick r:id="rId3"/>
              </a:rPr>
              <a:t>www.python.org</a:t>
            </a:r>
            <a:br>
              <a:rPr lang="pt-BR" dirty="0"/>
            </a:br>
            <a:r>
              <a:rPr lang="pt-BR" dirty="0"/>
              <a:t>https://youtu.be/bGCOxMzNBlE?si=G7Zv1Ph4bwzdCcrN</a:t>
            </a:r>
          </a:p>
          <a:p>
            <a:pPr marL="0" lvl="0" indent="0"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052" name="Picture 4" descr="Linguagem Python: Por que aprender? | Blog Cetax Treinamentos de BI">
            <a:extLst>
              <a:ext uri="{FF2B5EF4-FFF2-40B4-BE49-F238E27FC236}">
                <a16:creationId xmlns:a16="http://schemas.microsoft.com/office/drawing/2014/main" id="{CAA86D78-42AC-5AB0-6D99-A5AD2F077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028" y="2824336"/>
            <a:ext cx="3513944" cy="2108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013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5CE22EA-F3E8-87F0-AE9C-4407BF024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59A2359-02FA-71C7-89AF-EE06CA9086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 err="1"/>
              <a:t>Notepad</a:t>
            </a:r>
            <a:r>
              <a:rPr lang="pt-BR" dirty="0"/>
              <a:t> x </a:t>
            </a:r>
            <a:r>
              <a:rPr lang="pt-BR" dirty="0" err="1"/>
              <a:t>IDEs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493D030-7684-8450-DB0E-8A49ED228B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76200" indent="0">
              <a:buNone/>
            </a:pPr>
            <a:r>
              <a:rPr lang="pt-BR" dirty="0"/>
              <a:t>Dificuldades do </a:t>
            </a:r>
            <a:r>
              <a:rPr lang="pt-BR" dirty="0" err="1"/>
              <a:t>Notepad</a:t>
            </a:r>
            <a:endParaRPr lang="pt-BR" dirty="0"/>
          </a:p>
          <a:p>
            <a:pPr marL="558800" lvl="1" indent="0">
              <a:buNone/>
            </a:pPr>
            <a:r>
              <a:rPr lang="pt-BR" dirty="0"/>
              <a:t>– Editor básico, sem ajuda para programar</a:t>
            </a:r>
          </a:p>
          <a:p>
            <a:pPr marL="558800" lvl="1" indent="0">
              <a:buNone/>
            </a:pPr>
            <a:r>
              <a:rPr lang="pt-BR" dirty="0"/>
              <a:t>– Execução externa</a:t>
            </a:r>
          </a:p>
          <a:p>
            <a:pPr marL="76200" indent="0">
              <a:buNone/>
            </a:pPr>
            <a:r>
              <a:rPr lang="pt-BR" i="1" dirty="0" err="1"/>
              <a:t>Integrated</a:t>
            </a:r>
            <a:r>
              <a:rPr lang="pt-BR" i="1" dirty="0"/>
              <a:t> </a:t>
            </a:r>
            <a:r>
              <a:rPr lang="pt-BR" i="1" dirty="0" err="1"/>
              <a:t>Development</a:t>
            </a:r>
            <a:r>
              <a:rPr lang="pt-BR" i="1" dirty="0"/>
              <a:t> </a:t>
            </a:r>
            <a:r>
              <a:rPr lang="pt-BR" i="1" dirty="0" err="1"/>
              <a:t>Environment</a:t>
            </a:r>
            <a:r>
              <a:rPr lang="pt-BR" i="1" dirty="0"/>
              <a:t> </a:t>
            </a:r>
            <a:r>
              <a:rPr lang="pt-BR" dirty="0"/>
              <a:t>(IDE)</a:t>
            </a:r>
          </a:p>
          <a:p>
            <a:pPr marL="533400" lvl="1" indent="0">
              <a:buNone/>
            </a:pPr>
            <a:r>
              <a:rPr lang="pt-BR" dirty="0"/>
              <a:t>– Colore o código</a:t>
            </a:r>
          </a:p>
          <a:p>
            <a:pPr marL="533400" lvl="1" indent="0">
              <a:buNone/>
            </a:pPr>
            <a:r>
              <a:rPr lang="pt-BR" dirty="0"/>
              <a:t>– Autocompleta o código</a:t>
            </a:r>
          </a:p>
          <a:p>
            <a:pPr marL="533400" lvl="1" indent="0">
              <a:buNone/>
            </a:pPr>
            <a:r>
              <a:rPr lang="pt-BR" dirty="0"/>
              <a:t>– Verifica a sintaxe ao digitar</a:t>
            </a:r>
          </a:p>
          <a:p>
            <a:pPr marL="533400" lvl="1" indent="0">
              <a:buNone/>
            </a:pPr>
            <a:r>
              <a:rPr lang="pt-BR" dirty="0"/>
              <a:t>– Permite executar o código de forma integrada</a:t>
            </a:r>
          </a:p>
          <a:p>
            <a:pPr marL="533400" lvl="1" indent="0">
              <a:buNone/>
            </a:pPr>
            <a:r>
              <a:rPr lang="pt-BR" dirty="0"/>
              <a:t>– Etc.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8638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Preparando o ambiente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0B94F0E-055D-D00F-60D2-D9C031AC2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FBC9222-25E0-F548-6CDA-C7522EE59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 dirty="0"/>
              <a:t>Regras básicas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7BB7F9D-9C3F-1ABB-AAD6-5DC92D2226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A sequência dos comandos é importante</a:t>
            </a:r>
          </a:p>
          <a:p>
            <a:pPr marL="76200" indent="0">
              <a:buNone/>
            </a:pPr>
            <a:r>
              <a:rPr lang="pt-BR" dirty="0"/>
              <a:t>	– O Python lê de cima para baixo, como nós.</a:t>
            </a:r>
          </a:p>
          <a:p>
            <a:pPr marL="76200" indent="0">
              <a:buNone/>
            </a:pPr>
            <a:r>
              <a:rPr lang="pt-BR" dirty="0"/>
              <a:t>Em casos de códigos alternativos ou que se repetem, podemos criar blocos de comandos.</a:t>
            </a:r>
          </a:p>
          <a:p>
            <a:pPr marL="76200" indent="0">
              <a:buNone/>
            </a:pPr>
            <a:r>
              <a:rPr lang="pt-BR" dirty="0"/>
              <a:t>	– Blocos devem ser criados usando indentação (com</a:t>
            </a:r>
          </a:p>
          <a:p>
            <a:pPr marL="76200" indent="0">
              <a:buNone/>
            </a:pPr>
            <a:r>
              <a:rPr lang="pt-BR" dirty="0"/>
              <a:t>espaços ou </a:t>
            </a:r>
            <a:r>
              <a:rPr lang="pt-BR" dirty="0" err="1"/>
              <a:t>tab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41486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0F79C54-0E6B-05B7-4D24-44DEBEA1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5540F5D-E593-E96D-7EB6-AAECC8D583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 dirty="0"/>
              <a:t>Comentários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078189D-1A95-5999-FD9D-2B8CADB35C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Comentários são trechos do programa voltados para a leitura por humanos, e ignorados pelo Interpretador.</a:t>
            </a:r>
          </a:p>
          <a:p>
            <a:pPr marL="76200" indent="0">
              <a:buNone/>
            </a:pPr>
            <a:endParaRPr lang="pt-BR" dirty="0"/>
          </a:p>
          <a:p>
            <a:pPr marL="76200" indent="0">
              <a:buNone/>
            </a:pPr>
            <a:r>
              <a:rPr lang="pt-BR" dirty="0"/>
              <a:t>Começam com o símbolo </a:t>
            </a:r>
            <a:r>
              <a:rPr lang="pt-BR" b="1" dirty="0"/>
              <a:t>#</a:t>
            </a:r>
          </a:p>
          <a:p>
            <a:pPr marL="76200" indent="0">
              <a:buNone/>
            </a:pPr>
            <a:r>
              <a:rPr lang="pt-BR" dirty="0"/>
              <a:t>	– Tudo na linha após </a:t>
            </a:r>
            <a:r>
              <a:rPr lang="pt-BR" b="1" dirty="0"/>
              <a:t># </a:t>
            </a:r>
            <a:r>
              <a:rPr lang="pt-BR" dirty="0"/>
              <a:t>é ignorado pelo interpretador</a:t>
            </a:r>
          </a:p>
          <a:p>
            <a:pPr marL="76200" indent="0">
              <a:buNone/>
            </a:pPr>
            <a:r>
              <a:rPr lang="pt-BR" dirty="0"/>
              <a:t>Use comentários para documentar seu código e fazer com que ele seja fácil de entender por outras pessoas.</a:t>
            </a:r>
          </a:p>
        </p:txBody>
      </p:sp>
    </p:spTree>
    <p:extLst>
      <p:ext uri="{BB962C8B-B14F-4D97-AF65-F5344CB8AC3E}">
        <p14:creationId xmlns:p14="http://schemas.microsoft.com/office/powerpoint/2010/main" val="2926144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7ED9331-7EA9-17FD-1699-1C0283B84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789DD4C-E4B0-11CA-C826-07A3BE35F0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 dirty="0"/>
              <a:t>Atribuição de valores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B85ECB79-AA1F-391F-D7D7-12A62C0BF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Em Python, o operador de igualdade (=) é usado para atribuir valores às variáveis.</a:t>
            </a:r>
          </a:p>
          <a:p>
            <a:pPr marL="76200" indent="0">
              <a:buNone/>
            </a:pPr>
            <a:r>
              <a:rPr lang="pt-BR" dirty="0"/>
              <a:t>Sempre na forma: </a:t>
            </a:r>
            <a:r>
              <a:rPr lang="pt-BR" b="1" dirty="0"/>
              <a:t>variável </a:t>
            </a:r>
            <a:r>
              <a:rPr lang="pt-BR" dirty="0"/>
              <a:t>= </a:t>
            </a:r>
            <a:r>
              <a:rPr lang="pt-BR" b="1" dirty="0"/>
              <a:t>valor ou expressão</a:t>
            </a:r>
          </a:p>
          <a:p>
            <a:pPr marL="533400" lvl="1" indent="0">
              <a:buNone/>
            </a:pPr>
            <a:r>
              <a:rPr lang="pt-BR" dirty="0"/>
              <a:t>– A expressão do lado direito é processada</a:t>
            </a:r>
          </a:p>
          <a:p>
            <a:pPr marL="533400" lvl="1" indent="0">
              <a:buNone/>
            </a:pPr>
            <a:r>
              <a:rPr lang="pt-BR" dirty="0"/>
              <a:t>– O valor gerado é atribuído à variável</a:t>
            </a:r>
          </a:p>
          <a:p>
            <a:pPr marL="533400" lvl="1" indent="0">
              <a:buNone/>
            </a:pPr>
            <a:endParaRPr lang="pt-BR" dirty="0"/>
          </a:p>
          <a:p>
            <a:pPr marL="533400" lvl="1" indent="0">
              <a:buNone/>
            </a:pPr>
            <a:r>
              <a:rPr lang="pt-BR" dirty="0"/>
              <a:t>* Código exemplo área de um triângulo.</a:t>
            </a:r>
          </a:p>
        </p:txBody>
      </p:sp>
    </p:spTree>
    <p:extLst>
      <p:ext uri="{BB962C8B-B14F-4D97-AF65-F5344CB8AC3E}">
        <p14:creationId xmlns:p14="http://schemas.microsoft.com/office/powerpoint/2010/main" val="1668227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F6149A4-34BF-9ADB-4FDD-DDF3A254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522A571-3F9F-58F5-6310-FC2897903F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 dirty="0"/>
              <a:t>Quais são os tipos de dados disponíveis?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23B1F37-03FE-C61D-8166-B0D3AAF1B0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76200" indent="0">
              <a:buNone/>
            </a:pPr>
            <a:r>
              <a:rPr lang="pt-BR" dirty="0"/>
              <a:t>Em Python, toda variável tem um tipo.</a:t>
            </a:r>
          </a:p>
          <a:p>
            <a:pPr marL="76200" indent="0">
              <a:buNone/>
            </a:pPr>
            <a:r>
              <a:rPr lang="pt-BR" dirty="0"/>
              <a:t>Com isso, o computador pode saber quais operações são permitidas.</a:t>
            </a:r>
          </a:p>
          <a:p>
            <a:pPr marL="76200" indent="0">
              <a:buNone/>
            </a:pPr>
            <a:r>
              <a:rPr lang="pt-BR" dirty="0"/>
              <a:t>Os tipos podem ser divididos em três grupos</a:t>
            </a:r>
          </a:p>
          <a:p>
            <a:pPr marL="533400" lvl="1" indent="0">
              <a:buNone/>
            </a:pPr>
            <a:r>
              <a:rPr lang="pt-BR" dirty="0"/>
              <a:t>– Tipos numéricos (inteiro, real, etc.)</a:t>
            </a:r>
          </a:p>
          <a:p>
            <a:pPr marL="533400" lvl="1" indent="0">
              <a:buNone/>
            </a:pPr>
            <a:r>
              <a:rPr lang="pt-BR" dirty="0"/>
              <a:t>– Tipos textuais (caractere e </a:t>
            </a:r>
            <a:r>
              <a:rPr lang="pt-BR" dirty="0" err="1"/>
              <a:t>string</a:t>
            </a:r>
            <a:r>
              <a:rPr lang="pt-BR" dirty="0"/>
              <a:t>)</a:t>
            </a:r>
          </a:p>
          <a:p>
            <a:pPr marL="533400" lvl="1" indent="0">
              <a:buNone/>
            </a:pPr>
            <a:r>
              <a:rPr lang="pt-BR" dirty="0"/>
              <a:t>– Tipo lógico (booleano)</a:t>
            </a:r>
          </a:p>
          <a:p>
            <a:pPr marL="76200" indent="0">
              <a:buNone/>
            </a:pPr>
            <a:r>
              <a:rPr lang="pt-BR" dirty="0"/>
              <a:t>Os tipos são definidos dinamicamente, pelo próprio Python.</a:t>
            </a:r>
          </a:p>
          <a:p>
            <a:pPr marL="533400" lvl="1" indent="0">
              <a:buNone/>
            </a:pPr>
            <a:r>
              <a:rPr lang="pt-BR" dirty="0"/>
              <a:t>– Não é preciso dizer de que tipo é cada variável</a:t>
            </a:r>
          </a:p>
          <a:p>
            <a:pPr marL="533400" lvl="1" indent="0">
              <a:buNone/>
            </a:pPr>
            <a:r>
              <a:rPr lang="pt-BR" sz="1500" dirty="0"/>
              <a:t>* Código 2-dados.py</a:t>
            </a:r>
          </a:p>
        </p:txBody>
      </p:sp>
    </p:spTree>
    <p:extLst>
      <p:ext uri="{BB962C8B-B14F-4D97-AF65-F5344CB8AC3E}">
        <p14:creationId xmlns:p14="http://schemas.microsoft.com/office/powerpoint/2010/main" val="920051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A46FFE1-EBD3-FC38-7765-A03C98C88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9791717-1945-8807-285C-FD27C25379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 dirty="0"/>
              <a:t>Regras para nomes de variáveis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777FD40-9BA0-F3B5-1576-9E1FD80B8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Os nomes de variáveis devem respeitar algumas regras</a:t>
            </a:r>
          </a:p>
          <a:p>
            <a:pPr marL="533400" lvl="1" indent="0">
              <a:buNone/>
            </a:pPr>
            <a:r>
              <a:rPr lang="pt-BR" dirty="0"/>
              <a:t>– São sensíveis a caixa</a:t>
            </a:r>
          </a:p>
          <a:p>
            <a:pPr marL="533400" lvl="1" indent="0">
              <a:buNone/>
            </a:pPr>
            <a:r>
              <a:rPr lang="pt-BR" dirty="0"/>
              <a:t>– Podem ter tamanho ilimitado (mas evite abusos)</a:t>
            </a:r>
          </a:p>
          <a:p>
            <a:pPr marL="533400" lvl="1" indent="0">
              <a:buNone/>
            </a:pPr>
            <a:r>
              <a:rPr lang="pt-BR" dirty="0"/>
              <a:t>– Devem começar com letra ou </a:t>
            </a:r>
            <a:r>
              <a:rPr lang="pt-BR" dirty="0" err="1"/>
              <a:t>underline</a:t>
            </a:r>
            <a:r>
              <a:rPr lang="pt-BR" dirty="0"/>
              <a:t> ( _ )</a:t>
            </a:r>
          </a:p>
          <a:p>
            <a:pPr marL="533400" lvl="1" indent="0">
              <a:buNone/>
            </a:pPr>
            <a:r>
              <a:rPr lang="pt-BR" dirty="0"/>
              <a:t>– Outros caracteres podem ser letras, números ou </a:t>
            </a:r>
            <a:r>
              <a:rPr lang="pt-BR" dirty="0" err="1"/>
              <a:t>underline</a:t>
            </a:r>
            <a:endParaRPr lang="pt-BR" dirty="0"/>
          </a:p>
          <a:p>
            <a:pPr marL="533400" lvl="1" indent="0">
              <a:buNone/>
            </a:pPr>
            <a:r>
              <a:rPr lang="pt-BR" dirty="0"/>
              <a:t>– Não podem ter espaço nem acentos</a:t>
            </a:r>
          </a:p>
          <a:p>
            <a:pPr marL="533400" lvl="1" indent="0">
              <a:buNone/>
            </a:pPr>
            <a:r>
              <a:rPr lang="pt-BR" dirty="0"/>
              <a:t>– Não podem ser uma palavra reservada da linguagem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6383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40B324C-EA14-96BE-89FB-D0EC80188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D71493C-C7C5-B905-1512-BACB682472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 dirty="0"/>
              <a:t>Exercício - Tipos de Dados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E454E059-371F-E4BB-AA1B-FEFB271D6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Escreva um programa que imprima na tela, cada um em uma linha, um número inteiro, um número decimal (</a:t>
            </a:r>
            <a:r>
              <a:rPr lang="pt-BR" dirty="0" err="1"/>
              <a:t>float</a:t>
            </a:r>
            <a:r>
              <a:rPr lang="pt-BR" dirty="0"/>
              <a:t>) e um texto (</a:t>
            </a:r>
            <a:r>
              <a:rPr lang="pt-BR" dirty="0" err="1"/>
              <a:t>string</a:t>
            </a:r>
            <a:r>
              <a:rPr lang="pt-BR" dirty="0"/>
              <a:t>).</a:t>
            </a:r>
          </a:p>
          <a:p>
            <a:pPr marL="76200" indent="0">
              <a:buNone/>
            </a:pPr>
            <a:r>
              <a:rPr lang="pt-BR" b="1" dirty="0"/>
              <a:t>Formato esperado da saída:</a:t>
            </a:r>
            <a:endParaRPr lang="pt-BR" dirty="0"/>
          </a:p>
          <a:p>
            <a:pPr marL="76200" indent="0">
              <a:buNone/>
            </a:pPr>
            <a:r>
              <a:rPr lang="pt-BR" dirty="0"/>
              <a:t>42</a:t>
            </a:r>
          </a:p>
          <a:p>
            <a:pPr marL="76200" indent="0">
              <a:buNone/>
            </a:pPr>
            <a:r>
              <a:rPr lang="pt-BR" dirty="0"/>
              <a:t>3.14</a:t>
            </a:r>
          </a:p>
          <a:p>
            <a:pPr marL="76200" indent="0">
              <a:buNone/>
            </a:pPr>
            <a:r>
              <a:rPr lang="pt-BR" dirty="0"/>
              <a:t>Python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0234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79A06BC-E477-8F49-EA71-885AA8117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EADCD86-65B9-F61B-ED19-DCE914B177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 dirty="0"/>
              <a:t>Entrada de dados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86E524B3-5B7D-B225-013C-CA797282A5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Para entrada de dados, usamos </a:t>
            </a:r>
            <a:r>
              <a:rPr lang="pt-BR" b="1" dirty="0"/>
              <a:t>input</a:t>
            </a:r>
          </a:p>
          <a:p>
            <a:pPr marL="76200" indent="0">
              <a:buNone/>
            </a:pPr>
            <a:r>
              <a:rPr lang="pt-BR" dirty="0"/>
              <a:t>É possível informar um texto que aparecerá impresso na tela para que o usuário saiba que o programa está esperando a entrada de um valor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D4A0572-983F-667B-D316-4A3F847790CA}"/>
              </a:ext>
            </a:extLst>
          </p:cNvPr>
          <p:cNvSpPr/>
          <p:nvPr/>
        </p:nvSpPr>
        <p:spPr>
          <a:xfrm>
            <a:off x="644577" y="3043003"/>
            <a:ext cx="6453266" cy="13790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i="1" dirty="0"/>
              <a:t>nome = </a:t>
            </a:r>
            <a:r>
              <a:rPr lang="pt-BR" sz="2000" b="1" i="1" dirty="0"/>
              <a:t>input</a:t>
            </a:r>
            <a:r>
              <a:rPr lang="pt-BR" sz="2000" i="1" dirty="0"/>
              <a:t>('Digite o nome do aluno: ')</a:t>
            </a:r>
          </a:p>
          <a:p>
            <a:r>
              <a:rPr lang="pt-BR" sz="2000" i="1" dirty="0"/>
              <a:t>print(nome)</a:t>
            </a:r>
          </a:p>
        </p:txBody>
      </p:sp>
    </p:spTree>
    <p:extLst>
      <p:ext uri="{BB962C8B-B14F-4D97-AF65-F5344CB8AC3E}">
        <p14:creationId xmlns:p14="http://schemas.microsoft.com/office/powerpoint/2010/main" val="3062122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93AE81F-D5C2-E8EE-58E5-87F05F87D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6B7D0BC-EA3B-86C8-B2EC-21C23B27BE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 dirty="0"/>
              <a:t>Input lê dados como </a:t>
            </a:r>
            <a:r>
              <a:rPr lang="pt-BR" b="1" dirty="0" err="1"/>
              <a:t>string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7DE2D31-7C0C-F275-0BAC-C26E31DB81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Você pode usar o comando </a:t>
            </a:r>
            <a:r>
              <a:rPr lang="pt-BR" dirty="0" err="1"/>
              <a:t>type</a:t>
            </a:r>
            <a:r>
              <a:rPr lang="pt-BR" dirty="0"/>
              <a:t> para saber o</a:t>
            </a:r>
          </a:p>
          <a:p>
            <a:pPr marL="76200" indent="0">
              <a:buNone/>
            </a:pPr>
            <a:r>
              <a:rPr lang="pt-BR" dirty="0"/>
              <a:t>tipo que o Python atribuiu a uma variável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1BB83B5-FBD1-39BF-26A9-84D072CA9910}"/>
              </a:ext>
            </a:extLst>
          </p:cNvPr>
          <p:cNvSpPr/>
          <p:nvPr/>
        </p:nvSpPr>
        <p:spPr>
          <a:xfrm>
            <a:off x="644577" y="3043003"/>
            <a:ext cx="6453266" cy="13790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dirty="0"/>
              <a:t>altura = input('Digite a altura do triangulo: ')</a:t>
            </a:r>
          </a:p>
          <a:p>
            <a:r>
              <a:rPr lang="pt-BR" sz="2000" dirty="0"/>
              <a:t>print(</a:t>
            </a:r>
            <a:r>
              <a:rPr lang="pt-BR" sz="2000" b="1" dirty="0" err="1"/>
              <a:t>type</a:t>
            </a:r>
            <a:r>
              <a:rPr lang="pt-BR" sz="2000" dirty="0"/>
              <a:t>(altura))</a:t>
            </a:r>
          </a:p>
          <a:p>
            <a:r>
              <a:rPr lang="pt-BR" sz="2000" dirty="0"/>
              <a:t>...</a:t>
            </a:r>
            <a:endParaRPr lang="pt-BR" sz="2000" i="1" dirty="0"/>
          </a:p>
        </p:txBody>
      </p:sp>
    </p:spTree>
    <p:extLst>
      <p:ext uri="{BB962C8B-B14F-4D97-AF65-F5344CB8AC3E}">
        <p14:creationId xmlns:p14="http://schemas.microsoft.com/office/powerpoint/2010/main" val="2291199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971F517-F9DC-44E3-CCF2-0E0A22ECD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AB7490F-B9D0-B58D-4632-60E21AEC5B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/>
              <a:t>Mudança de tipo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E136542-9AE8-31EE-931C-92F2BBF5ED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Usar </a:t>
            </a:r>
            <a:r>
              <a:rPr lang="pt-BR" dirty="0" err="1"/>
              <a:t>int</a:t>
            </a:r>
            <a:r>
              <a:rPr lang="pt-BR" dirty="0"/>
              <a:t>() ou </a:t>
            </a:r>
            <a:r>
              <a:rPr lang="pt-BR" dirty="0" err="1"/>
              <a:t>float</a:t>
            </a:r>
            <a:r>
              <a:rPr lang="pt-BR" dirty="0"/>
              <a:t>() para converter o tipo para numérico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6481EF0-6FAD-6994-DDDE-227B15EAC56A}"/>
              </a:ext>
            </a:extLst>
          </p:cNvPr>
          <p:cNvSpPr/>
          <p:nvPr/>
        </p:nvSpPr>
        <p:spPr>
          <a:xfrm>
            <a:off x="1345367" y="2171127"/>
            <a:ext cx="6453266" cy="13790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dirty="0"/>
              <a:t>altura = </a:t>
            </a:r>
            <a:r>
              <a:rPr lang="pt-BR" sz="2000" dirty="0" err="1"/>
              <a:t>int</a:t>
            </a:r>
            <a:r>
              <a:rPr lang="pt-BR" sz="2000" dirty="0"/>
              <a:t>(input('Digite a altura do triangulo: '))</a:t>
            </a:r>
          </a:p>
          <a:p>
            <a:r>
              <a:rPr lang="pt-BR" sz="2000" dirty="0"/>
              <a:t>print(</a:t>
            </a:r>
            <a:r>
              <a:rPr lang="pt-BR" sz="2000" dirty="0" err="1"/>
              <a:t>type</a:t>
            </a:r>
            <a:r>
              <a:rPr lang="pt-BR" sz="2000" dirty="0"/>
              <a:t>(altura))</a:t>
            </a:r>
          </a:p>
          <a:p>
            <a:r>
              <a:rPr lang="pt-BR" sz="2000" dirty="0"/>
              <a:t>...</a:t>
            </a:r>
            <a:endParaRPr lang="pt-BR" sz="2000" i="1" dirty="0"/>
          </a:p>
        </p:txBody>
      </p:sp>
    </p:spTree>
    <p:extLst>
      <p:ext uri="{BB962C8B-B14F-4D97-AF65-F5344CB8AC3E}">
        <p14:creationId xmlns:p14="http://schemas.microsoft.com/office/powerpoint/2010/main" val="1356566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615A8D3-D637-E116-AAC5-35E29753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B377DBB-449C-C1AA-3132-1D28007BBC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pt-BR" b="1" dirty="0"/>
              <a:t>Saída de dados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6ED3371-860A-44CD-C10C-9C50B45FD7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76200" indent="0">
              <a:buNone/>
            </a:pPr>
            <a:r>
              <a:rPr lang="pt-BR" dirty="0"/>
              <a:t>Para saída de dados, usamos </a:t>
            </a:r>
            <a:r>
              <a:rPr lang="pt-BR" b="1" dirty="0"/>
              <a:t>print</a:t>
            </a:r>
          </a:p>
          <a:p>
            <a:pPr marL="76200" indent="0">
              <a:buNone/>
            </a:pPr>
            <a:endParaRPr lang="pt-BR" b="1" dirty="0"/>
          </a:p>
          <a:p>
            <a:pPr marL="76200" indent="0">
              <a:buNone/>
            </a:pPr>
            <a:endParaRPr lang="pt-BR" b="1" dirty="0"/>
          </a:p>
          <a:p>
            <a:pPr marL="76200" indent="0">
              <a:buNone/>
            </a:pPr>
            <a:endParaRPr lang="pt-BR" b="1" dirty="0"/>
          </a:p>
          <a:p>
            <a:pPr marL="76200" indent="0">
              <a:buNone/>
            </a:pPr>
            <a:endParaRPr lang="pt-BR" b="1" dirty="0"/>
          </a:p>
          <a:p>
            <a:pPr marL="76200" indent="0">
              <a:buNone/>
            </a:pPr>
            <a:endParaRPr lang="pt-BR" b="1" dirty="0"/>
          </a:p>
          <a:p>
            <a:pPr marL="76200" indent="0">
              <a:buNone/>
            </a:pPr>
            <a:endParaRPr lang="pt-BR" b="1" dirty="0"/>
          </a:p>
          <a:p>
            <a:pPr marL="76200" indent="0">
              <a:buNone/>
            </a:pPr>
            <a:endParaRPr lang="pt-BR" b="1" dirty="0"/>
          </a:p>
          <a:p>
            <a:pPr marL="76200" indent="0">
              <a:buNone/>
            </a:pPr>
            <a:endParaRPr lang="pt-BR" b="1" dirty="0"/>
          </a:p>
          <a:p>
            <a:pPr marL="76200" indent="0">
              <a:buNone/>
            </a:pPr>
            <a:r>
              <a:rPr lang="pt-BR" sz="1500" b="1" dirty="0"/>
              <a:t>* </a:t>
            </a:r>
            <a:r>
              <a:rPr lang="pt-BR" sz="1500" dirty="0"/>
              <a:t>Código 04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0468552-DB88-DAD9-CA8D-6359E2D5F9AE}"/>
              </a:ext>
            </a:extLst>
          </p:cNvPr>
          <p:cNvSpPr/>
          <p:nvPr/>
        </p:nvSpPr>
        <p:spPr>
          <a:xfrm>
            <a:off x="1345367" y="1869918"/>
            <a:ext cx="6453266" cy="2121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dirty="0"/>
              <a:t>print('</a:t>
            </a:r>
            <a:r>
              <a:rPr lang="pt-BR" sz="2000" dirty="0" err="1"/>
              <a:t>Prog</a:t>
            </a:r>
            <a:r>
              <a:rPr lang="pt-BR" sz="2000" dirty="0"/>
              <a:t> é muito legal')</a:t>
            </a:r>
          </a:p>
          <a:p>
            <a:r>
              <a:rPr lang="pt-BR" sz="2000" dirty="0"/>
              <a:t>print(123)</a:t>
            </a:r>
          </a:p>
          <a:p>
            <a:r>
              <a:rPr lang="pt-BR" sz="2000" dirty="0"/>
              <a:t>altura = 10</a:t>
            </a:r>
          </a:p>
          <a:p>
            <a:r>
              <a:rPr lang="pt-BR" sz="2000" dirty="0"/>
              <a:t>print(altura)</a:t>
            </a:r>
          </a:p>
          <a:p>
            <a:r>
              <a:rPr lang="pt-BR" sz="2000" dirty="0"/>
              <a:t>print('Vamos pular uma linha \n')</a:t>
            </a:r>
          </a:p>
          <a:p>
            <a:r>
              <a:rPr lang="pt-BR" sz="2000" dirty="0"/>
              <a:t>print('O nome do aluno é', nome)</a:t>
            </a:r>
            <a:endParaRPr lang="pt-BR" sz="2000" i="1" dirty="0"/>
          </a:p>
        </p:txBody>
      </p:sp>
    </p:spTree>
    <p:extLst>
      <p:ext uri="{BB962C8B-B14F-4D97-AF65-F5344CB8AC3E}">
        <p14:creationId xmlns:p14="http://schemas.microsoft.com/office/powerpoint/2010/main" val="956516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776</Words>
  <Application>Microsoft Office PowerPoint</Application>
  <PresentationFormat>Apresentação na tela (16:9)</PresentationFormat>
  <Paragraphs>114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3" baseType="lpstr">
      <vt:lpstr>Arial</vt:lpstr>
      <vt:lpstr>Impact</vt:lpstr>
      <vt:lpstr>Simple Light</vt:lpstr>
      <vt:lpstr>Programando em Python</vt:lpstr>
      <vt:lpstr>Vamos programar em Python! Mas...</vt:lpstr>
      <vt:lpstr>Primeiro passo: escrever o programa!</vt:lpstr>
      <vt:lpstr>Mas o computador não conhece Python!!!</vt:lpstr>
      <vt:lpstr>Compilação</vt:lpstr>
      <vt:lpstr>Python é uma linguagem interpretada</vt:lpstr>
      <vt:lpstr>Instalação do Interpretador Python</vt:lpstr>
      <vt:lpstr>Notepad x IDEs</vt:lpstr>
      <vt:lpstr>Preparando o ambiente</vt:lpstr>
      <vt:lpstr>Regras básicas </vt:lpstr>
      <vt:lpstr>Comentários </vt:lpstr>
      <vt:lpstr>Atribuição de valores </vt:lpstr>
      <vt:lpstr>Quais são os tipos de dados disponíveis? </vt:lpstr>
      <vt:lpstr>Regras para nomes de variáveis </vt:lpstr>
      <vt:lpstr>Exercício - Tipos de Dados </vt:lpstr>
      <vt:lpstr>Entrada de dados </vt:lpstr>
      <vt:lpstr>Input lê dados como string </vt:lpstr>
      <vt:lpstr>Mudança de tipo</vt:lpstr>
      <vt:lpstr>Saída de dados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Juliano Caetano</cp:lastModifiedBy>
  <cp:revision>3</cp:revision>
  <dcterms:modified xsi:type="dcterms:W3CDTF">2026-02-19T19:10:01Z</dcterms:modified>
</cp:coreProperties>
</file>